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fb7f966d-e6cb-a991-3e3d-36e74011ea3f}">
          <p14:sldIdLst>
            <p14:sldId id="256"/>
          </p14:sldIdLst>
        </p14:section>
        <p14:section name="문제" id="{4f80bd6c-4cb0-d576-1dbb-4bf8ac5fb995}">
          <p14:sldIdLst>
            <p14:sldId id="257"/>
            <p14:sldId id="258"/>
          </p14:sldIdLst>
        </p14:section>
        <p14:section name="기회" id="{4bec4cf1-b1be-a7d7-0463-5efe27ff33d1}">
          <p14:sldIdLst>
            <p14:sldId id="259"/>
          </p14:sldIdLst>
        </p14:section>
        <p14:section name="솔루션" id="{4eea3d5c-ed75-b2c3-98de-4ba614583eda}">
          <p14:sldIdLst>
            <p14:sldId id="260"/>
            <p14:sldId id="261"/>
            <p14:sldId id="262"/>
            <p14:sldId id="263"/>
          </p14:sldIdLst>
        </p14:section>
        <p14:section name="기술" id="{f1c52cda-6350-8918-2b19-e5d55351a7f0}">
          <p14:sldIdLst>
            <p14:sldId id="264"/>
          </p14:sldIdLst>
        </p14:section>
        <p14:section name="시장" id="{c13e28b0-f80e-bc70-bc12-9208bb0e5df7}">
          <p14:sldIdLst>
            <p14:sldId id="265"/>
            <p14:sldId id="266"/>
          </p14:sldIdLst>
        </p14:section>
        <p14:section name="비즈니스 모델" id="{8592e915-b200-c94d-4649-c3fc93482928}">
          <p14:sldIdLst>
            <p14:sldId id="267"/>
          </p14:sldIdLst>
        </p14:section>
        <p14:section name="경쟁" id="{dff4f468-3953-422c-10dd-73f8cd27855c}">
          <p14:sldIdLst>
            <p14:sldId id="268"/>
          </p14:sldIdLst>
        </p14:section>
        <p14:section name="실행 계획" id="{8e954569-0b18-9115-917a-287e6999122a}">
          <p14:sldIdLst>
            <p14:sldId id="269"/>
          </p14:sldIdLst>
        </p14:section>
        <p14:section name="팀" id="{635c6ffe-31a7-e2b0-97e0-a3b05bf18b6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r>
              <a:rPr sz="1300" b="0" i="0" u="none" strike="noStrike">
                <a:solidFill>
                  <a:srgbClr val="4A4F57"/>
                </a:solidFill>
                <a:latin typeface="+mn-lt"/>
                <a:ea typeface="+mn-ea"/>
              </a:rPr>
              <a:t>2025년 사고사망 발생 형태 (전 산업, 명)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물체에 맞음</c:v>
                </c:pt>
              </c:strCache>
            </c:strRef>
          </c:tx>
          <c:spPr>
            <a:solidFill>
              <a:srgbClr val="FF5A1F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무너짐</c:v>
                  </c:pt>
                  <c:pt idx="1">
                    <c:v>부딪힘</c:v>
                  </c:pt>
                  <c:pt idx="2">
                    <c:v>물체에 맞음</c:v>
                  </c:pt>
                  <c:pt idx="3">
                    <c:v>떨어짐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72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그 외</c:v>
                </c:pt>
              </c:strCache>
            </c:strRef>
          </c:tx>
          <c:spPr>
            <a:solidFill>
              <a:srgbClr val="C9CDD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무너짐</c:v>
                  </c:pt>
                  <c:pt idx="1">
                    <c:v>부딪힘</c:v>
                  </c:pt>
                  <c:pt idx="2">
                    <c:v>물체에 맞음</c:v>
                  </c:pt>
                  <c:pt idx="3">
                    <c:v>떨어짐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</c:v>
                </c:pt>
                <c:pt idx="1">
                  <c:v>62</c:v>
                </c:pt>
                <c:pt idx="2">
                  <c:v>0</c:v>
                </c:pt>
                <c:pt idx="3">
                  <c:v>249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1B1D21"/>
                  </a:solidFill>
                  <a:latin typeface="+mn-lt"/>
                  <a:ea typeface="+mn-ea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  <a:ea typeface="+mn-e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r>
              <a:rPr sz="1300" b="0" i="0" u="none" strike="noStrike">
                <a:solidFill>
                  <a:srgbClr val="4A4F57"/>
                </a:solidFill>
                <a:latin typeface="+mn-lt"/>
                <a:ea typeface="+mn-ea"/>
              </a:rPr>
              <a:t>글로벌 시장 규모 (조 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2024~25년</c:v>
                </c:pt>
              </c:strCache>
            </c:strRef>
          </c:tx>
          <c:spPr>
            <a:solidFill>
              <a:srgbClr val="C9CD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건설현장 안전 모니터링</c:v>
                  </c:pt>
                  <c:pt idx="1">
                    <c:v>건설 AI</c:v>
                  </c:pt>
                  <c:pt idx="2">
                    <c:v>건설 드론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3.73</c:v>
                </c:pt>
                <c:pt idx="1">
                  <c:v>6.84</c:v>
                </c:pt>
                <c:pt idx="2">
                  <c:v>6.35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2030년</c:v>
                </c:pt>
              </c:strCache>
            </c:strRef>
          </c:tx>
          <c:spPr>
            <a:solidFill>
              <a:srgbClr val="FF5A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건설현장 안전 모니터링</c:v>
                  </c:pt>
                  <c:pt idx="1">
                    <c:v>건설 AI</c:v>
                  </c:pt>
                  <c:pt idx="2">
                    <c:v>건설 드론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6.37</c:v>
                </c:pt>
                <c:pt idx="1">
                  <c:v>20.3</c:v>
                </c:pt>
                <c:pt idx="2">
                  <c:v>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B1D21"/>
                  </a:solidFill>
                  <a:latin typeface="+mn-lt"/>
                  <a:ea typeface="+mn-e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  <a:ea typeface="+mn-e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F57"/>
              </a:solidFill>
              <a:latin typeface="+mn-lt"/>
              <a:ea typeface="+mn-ea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DropZero  ·  팀 GA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200" b="1" dirty="0">
                <a:solidFill>
                  <a:schemeClr val="accent1"/>
                </a:solidFill>
              </a:defRPr>
            </a:lvl1pPr>
          </a:lstStyle>
          <a:p>
            <a:pPr eaLnBrk="0" algn="l" indent="0" marL="0">
              <a:buNone/>
            </a:pPr>
            <a:endParaRPr lang="ko-KR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800" b="1" dirty="0">
                <a:solidFill>
                  <a:schemeClr val="tx1"/>
                </a:solidFill>
              </a:defRPr>
            </a:lvl1pPr>
          </a:lstStyle>
          <a:p>
            <a:pPr eaLnBrk="0" algn="l" indent="0" marL="0">
              <a:buNone/>
            </a:pP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3A3F46"/>
          </a:solidFill>
          <a:ln w="12700">
            <a:solidFill>
              <a:srgbClr val="3A3F46"/>
            </a:solidFill>
            <a:prstDash val="solid"/>
          </a:ln>
        </p:spPr>
      </p:sp>
      <p:pic>
        <p:nvPicPr>
          <p:cNvPr id="3" name="Image 0" descr="/Users/leeseungbo/Desktop/창업/신한스퀘어브릿지 지원사업/pitch/deck/assets/site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948940"/>
            <a:ext cx="6949440" cy="39090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2026 신한 스퀘어브릿지 대학생 창업 공모전  HERO IR</a:t>
            </a:r>
            <a:endParaRPr lang="ko-KR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6400" b="1" dirty="0">
                <a:solidFill>
                  <a:schemeClr val="bg1"/>
                </a:solidFill>
              </a:rPr>
              <a:t>DropZero</a:t>
            </a:r>
            <a:endParaRPr lang="ko-KR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3774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2400" dirty="0">
                <a:solidFill>
                  <a:schemeClr val="accent4"/>
                </a:solidFill>
              </a:rPr>
              <a:t>건설현장 낙하물 사고,</a:t>
            </a:r>
            <a:endParaRPr lang="ko-KR" sz="2400" dirty="0"/>
          </a:p>
          <a:p>
            <a:pPr eaLnBrk="0" indent="0" marL="0">
              <a:lnSpc>
                <a:spcPct val="115000"/>
              </a:lnSpc>
              <a:buNone/>
            </a:pPr>
            <a:r>
              <a:rPr lang="ko-KR" sz="2400" dirty="0">
                <a:solidFill>
                  <a:schemeClr val="accent4"/>
                </a:solidFill>
              </a:rPr>
              <a:t>맞기 전에 막습니다</a:t>
            </a:r>
            <a:endParaRPr lang="ko-KR" sz="2400" dirty="0"/>
          </a:p>
        </p:txBody>
      </p:sp>
      <p:sp>
        <p:nvSpPr>
          <p:cNvPr id="7" name="Shape 4"/>
          <p:cNvSpPr/>
          <p:nvPr/>
        </p:nvSpPr>
        <p:spPr>
          <a:xfrm>
            <a:off x="713232" y="39791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3232" y="40934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42839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3232" y="45506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" y="48935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0314" y="5279746"/>
            <a:ext cx="138989" cy="138989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accent4"/>
                </a:solidFill>
              </a:rPr>
              <a:t>팀 GA   이승보 · 이성재 · 장재홍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문제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지난해 건설 현장에서 286명이 일하다 숨졌습니다</a:t>
            </a:r>
            <a:endParaRPr lang="ko-K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7200" b="1" dirty="0">
                <a:solidFill>
                  <a:schemeClr val="tx1"/>
                </a:solidFill>
              </a:rPr>
              <a:t>286</a:t>
            </a:r>
            <a:pPr eaLnBrk="0" indent="0" marL="0">
              <a:buNone/>
            </a:pPr>
            <a:r>
              <a:rPr lang="ko-KR" sz="3000" b="1" dirty="0">
                <a:solidFill>
                  <a:schemeClr val="tx1"/>
                </a:solidFill>
              </a:rPr>
              <a:t>명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accent3"/>
                </a:solidFill>
              </a:rPr>
              <a:t>2025년 건설업 사고사망자</a:t>
            </a:r>
            <a:endParaRPr lang="ko-KR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86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accent2"/>
                </a:solidFill>
              </a:rPr>
              <a:t>전 산업 사고사망 605명 중 47%</a:t>
            </a:r>
            <a:endParaRPr lang="ko-KR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862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7200" b="1" dirty="0">
                <a:solidFill>
                  <a:schemeClr val="accent1"/>
                </a:solidFill>
              </a:rPr>
              <a:t>72</a:t>
            </a:r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</a:rPr>
              <a:t>명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37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accent3"/>
                </a:solidFill>
              </a:rPr>
              <a:t>‘물체에 맞음’ 사망자, 사고 유형 2위</a:t>
            </a:r>
            <a:endParaRPr lang="ko-KR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760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accent2"/>
                </a:solidFill>
              </a:rPr>
              <a:t>날아오거나 떨어진 물체에 맞은 사고 (전 산업)</a:t>
            </a:r>
            <a:endParaRPr lang="ko-KR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0" y="178308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출처: 고용노동부 「2025년 재해조사 대상 사망사고 발생 현황」(2026. 3.), 연합뉴스 2026. 3. 31. 보도 재인용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문제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30m에서 떨어진 공구는 2.47초 만에 바닥에 닿습니다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3657600" cy="406359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458720" y="2849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1.0초</a:t>
            </a:r>
            <a:endParaRPr lang="ko-KR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458720" y="347573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1.5초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458720" y="4349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2.0초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458720" y="540207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2.47초 · 바닥</a:t>
            </a:r>
            <a:endParaRPr lang="ko-KR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1874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01</a:t>
            </a:r>
            <a:endParaRPr lang="ko-KR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874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보고 피하기엔 짧습니다</a:t>
            </a:r>
            <a:endParaRPr lang="ko-KR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715000" y="22860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경보를 듣고 판단해 1~2m 피하는 데 1.5~2.5초가 걸립니다. 17m보다 낮은 곳에서 떨어지면 경보만으로는 막을 수 없습니다.</a:t>
            </a:r>
            <a:endParaRPr lang="ko-KR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02</a:t>
            </a:r>
            <a:endParaRPr lang="ko-KR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246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누가 아래에 있는지 모릅니다</a:t>
            </a:r>
            <a:endParaRPr lang="ko-KR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715000" y="36576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인양 중 하부 출입 통제는 신호수 한 사람의 눈에 달려 있습니다. 크레인이 움직이면 위험한 자리도 같이 바뀝니다.</a:t>
            </a:r>
            <a:endParaRPr lang="ko-KR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46177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03</a:t>
            </a:r>
            <a:endParaRPr lang="ko-KR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617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다치지 않으면 기록이 없습니다</a:t>
            </a:r>
            <a:endParaRPr lang="ko-KR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715000" y="50292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사람이 맞지 않은 낙하는 보고되지 않습니다. 어느 현장이 위험한지 미리 가려낼 데이터가 쌓이지 않습니다.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왜 지금인가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올해부터 스마트 안전장비 비용을 산안비로 전액 처리합니다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100%</a:t>
            </a:r>
            <a:endParaRPr lang="ko-KR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스마트 안전장비 비용, 산안비로 전액 인정</a:t>
            </a:r>
            <a:endParaRPr lang="ko-KR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2026년부터 AI CCTV·접근 경보 장비의 구입·임대비를 산업안전보건관리비로 100% 씁니다. 사용 한도도 산안비의 20%로 늘었습니다.</a:t>
            </a:r>
            <a:endParaRPr lang="ko-KR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19%↑</a:t>
            </a:r>
            <a:endParaRPr lang="ko-KR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산안비 요율 11년 만에 인상</a:t>
            </a:r>
            <a:endParaRPr lang="ko-KR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2025년 계약분부터 요율이 평균 19% 올랐습니다. 공사비 50억 원 이상 건축공사는 2.37%입니다.</a:t>
            </a:r>
            <a:endParaRPr lang="ko-KR" sz="1300" dirty="0"/>
          </a:p>
        </p:txBody>
      </p:sp>
      <p:sp>
        <p:nvSpPr>
          <p:cNvPr id="12" name="Shape 10"/>
          <p:cNvSpPr/>
          <p:nvPr/>
        </p:nvSpPr>
        <p:spPr>
          <a:xfrm>
            <a:off x="6163056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16층+</a:t>
            </a:r>
            <a:endParaRPr lang="ko-KR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고층 현장엔 CCTV가 이미 있습니다</a:t>
            </a:r>
            <a:endParaRPr lang="ko-KR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16층 이상 공동주택 공사장은 CCTV 설치가 의무입니다. 카메라를 새로 달지 않고 분석만 얹으면 됩니다.</a:t>
            </a:r>
            <a:endParaRPr lang="ko-KR" sz="1300" dirty="0"/>
          </a:p>
        </p:txBody>
      </p:sp>
      <p:sp>
        <p:nvSpPr>
          <p:cNvPr id="16" name="Shape 14"/>
          <p:cNvSpPr/>
          <p:nvPr/>
        </p:nvSpPr>
        <p:spPr>
          <a:xfrm>
            <a:off x="8970264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296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5인 이상</a:t>
            </a:r>
            <a:endParaRPr lang="ko-KR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중대재해처벌법 전면 적용</a:t>
            </a:r>
            <a:endParaRPr lang="ko-KR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2024년부터 5인 이상 사업장 전체로 넓어졌습니다. 안전보건관리체계를 실제로 운영한 기록이 필요합니다.</a:t>
            </a:r>
            <a:endParaRPr lang="ko-KR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근거: 고용노동부고시 제2024-53호·제2025-11호(건설업 산업안전보건관리비 계상 및 사용기준), 건설기술 진흥법 시행규칙(2020. 12. 10. 시행), 중대재해 처벌 등에 관한 법률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솔루션 · DropZero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떨어질 물건 아래에 사람이 서 있지 않게 합니다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sit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7315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20840" y="438912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20840" y="4389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1</a:t>
            </a:r>
            <a:endParaRPr lang="ko-KR" sz="1300" dirty="0"/>
          </a:p>
        </p:txBody>
      </p:sp>
      <p:sp>
        <p:nvSpPr>
          <p:cNvPr id="7" name="Shape 4"/>
          <p:cNvSpPr/>
          <p:nvPr/>
        </p:nvSpPr>
        <p:spPr>
          <a:xfrm>
            <a:off x="3086100" y="3977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8610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2</a:t>
            </a:r>
            <a:endParaRPr lang="ko-KR" sz="1300" dirty="0"/>
          </a:p>
        </p:txBody>
      </p:sp>
      <p:sp>
        <p:nvSpPr>
          <p:cNvPr id="9" name="Shape 6"/>
          <p:cNvSpPr/>
          <p:nvPr/>
        </p:nvSpPr>
        <p:spPr>
          <a:xfrm>
            <a:off x="2651760" y="20116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5176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3</a:t>
            </a:r>
            <a:endParaRPr lang="ko-KR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9202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1</a:t>
            </a:r>
            <a:endParaRPr lang="ko-KR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19019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예방</a:t>
            </a:r>
            <a:endParaRPr lang="ko-KR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230428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인양물 아래 위험구역이 크레인을 따라 움직이고, 사람이 들어오면 바로 경보가 울립니다.</a:t>
            </a:r>
            <a:endParaRPr lang="ko-KR" sz="1400" dirty="0"/>
          </a:p>
        </p:txBody>
      </p:sp>
      <p:sp>
        <p:nvSpPr>
          <p:cNvPr id="15" name="Shape 12"/>
          <p:cNvSpPr/>
          <p:nvPr/>
        </p:nvSpPr>
        <p:spPr>
          <a:xfrm>
            <a:off x="8183880" y="32918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83880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2</a:t>
            </a:r>
            <a:endParaRPr lang="ko-KR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273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대응</a:t>
            </a:r>
            <a:endParaRPr lang="ko-KR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367588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물체가 떨어지는 순간을 감지해 0.35초 안에 착지 예상 지점 주변에 대피 경보를 보냅니다.</a:t>
            </a:r>
            <a:endParaRPr lang="ko-KR" sz="1400" dirty="0"/>
          </a:p>
        </p:txBody>
      </p:sp>
      <p:sp>
        <p:nvSpPr>
          <p:cNvPr id="19" name="Shape 16"/>
          <p:cNvSpPr/>
          <p:nvPr/>
        </p:nvSpPr>
        <p:spPr>
          <a:xfrm>
            <a:off x="8183880" y="46634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663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3</a:t>
            </a:r>
            <a:endParaRPr lang="ko-KR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46451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학습</a:t>
            </a:r>
            <a:endParaRPr lang="ko-KR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504748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드론 순찰 결과와 모든 낙하 기록을 쌓아 위험한 현장과 시간대를 미리 가려냅니다.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핵심 기능 ①  예방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인양물이 움직이면 위험구역도 같이 움직입니다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z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91640"/>
            <a:ext cx="5577840" cy="44622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accent1"/>
                </a:solidFill>
              </a:rPr>
              <a:t>1</a:t>
            </a:r>
            <a:endParaRPr lang="ko-KR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122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900" b="1" dirty="0">
                <a:solidFill>
                  <a:schemeClr val="tx1"/>
                </a:solidFill>
              </a:rPr>
              <a:t>인양물 위치 계산</a:t>
            </a:r>
            <a:endParaRPr lang="ko-KR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22128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크레인 후크 카메라와 선회각·반경 데이터로 매달린 자재의 위치를 잡습니다.</a:t>
            </a:r>
            <a:endParaRPr lang="ko-KR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accent1"/>
                </a:solidFill>
              </a:rPr>
              <a:t>2</a:t>
            </a:r>
            <a:endParaRPr lang="ko-KR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9443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900" b="1" dirty="0">
                <a:solidFill>
                  <a:schemeClr val="tx1"/>
                </a:solidFill>
              </a:rPr>
              <a:t>위험구역 생성</a:t>
            </a:r>
            <a:endParaRPr lang="ko-KR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332841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자재가 떨어질 수 있는 바닥 범위에 안전 여유를 더해 구역을 만들고, 크레인이 움직일 때마다 다시 그립니다.</a:t>
            </a:r>
            <a:endParaRPr lang="ko-KR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059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accent1"/>
                </a:solidFill>
              </a:rPr>
              <a:t>3</a:t>
            </a:r>
            <a:endParaRPr lang="ko-KR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900" b="1" dirty="0">
                <a:solidFill>
                  <a:schemeClr val="tx1"/>
                </a:solidFill>
              </a:rPr>
              <a:t>진입 즉시 경보</a:t>
            </a:r>
            <a:endParaRPr lang="ko-KR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444398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구역 안에 작업자가 들어오면 경광등, 안전모 진동, 신호수 단말이 동시에 울립니다.</a:t>
            </a:r>
            <a:endParaRPr lang="ko-KR" sz="1400" dirty="0"/>
          </a:p>
        </p:txBody>
      </p:sp>
      <p:sp>
        <p:nvSpPr>
          <p:cNvPr id="14" name="Shape 11"/>
          <p:cNvSpPr/>
          <p:nvPr/>
        </p:nvSpPr>
        <p:spPr>
          <a:xfrm>
            <a:off x="6400800" y="5257800"/>
            <a:ext cx="52120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536752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300" dirty="0">
                <a:solidFill>
                  <a:schemeClr val="accent5"/>
                </a:solidFill>
              </a:rPr>
              <a:t>낙하 높이와 상관없이 작동해서, 경보로 피할 시간이 없는 저층 인양도 이 단계에서 막습니다.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핵심 기능 ②  대응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떨어지는 순간을 0.35초 안에 잡아 경보를 울립니다</a:t>
            </a:r>
            <a:endParaRPr lang="ko-K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dirty="0">
                <a:solidFill>
                  <a:schemeClr val="accent3"/>
                </a:solidFill>
              </a:rPr>
              <a:t>30m 높이에서 떨어진 물체가 바닥에 닿기까지 2.47초</a:t>
            </a:r>
            <a:endParaRPr lang="ko-KR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567807" cy="56692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6447" y="2331720"/>
            <a:ext cx="9496433" cy="566928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3317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감지 · 경보  0.35초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45047" y="23317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bg1"/>
                </a:solidFill>
              </a:rPr>
              <a:t>대피할 수 있는 시간  약 2.1초</a:t>
            </a:r>
            <a:endParaRPr lang="ko-KR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0초</a:t>
            </a:r>
            <a:endParaRPr lang="ko-KR" sz="1100" dirty="0"/>
          </a:p>
        </p:txBody>
      </p:sp>
      <p:sp>
        <p:nvSpPr>
          <p:cNvPr id="11" name="Shape 9"/>
          <p:cNvSpPr/>
          <p:nvPr/>
        </p:nvSpPr>
        <p:spPr>
          <a:xfrm>
            <a:off x="2788365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2605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0.5초</a:t>
            </a:r>
            <a:endParaRPr lang="ko-KR" sz="1100" dirty="0"/>
          </a:p>
        </p:txBody>
      </p:sp>
      <p:sp>
        <p:nvSpPr>
          <p:cNvPr id="13" name="Shape 11"/>
          <p:cNvSpPr/>
          <p:nvPr/>
        </p:nvSpPr>
        <p:spPr>
          <a:xfrm>
            <a:off x="5028089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2329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1초</a:t>
            </a:r>
            <a:endParaRPr lang="ko-KR" sz="1100" dirty="0"/>
          </a:p>
        </p:txBody>
      </p:sp>
      <p:sp>
        <p:nvSpPr>
          <p:cNvPr id="15" name="Shape 13"/>
          <p:cNvSpPr/>
          <p:nvPr/>
        </p:nvSpPr>
        <p:spPr>
          <a:xfrm>
            <a:off x="7267814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2054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1.5초</a:t>
            </a:r>
            <a:endParaRPr lang="ko-KR" sz="1100" dirty="0"/>
          </a:p>
        </p:txBody>
      </p:sp>
      <p:sp>
        <p:nvSpPr>
          <p:cNvPr id="17" name="Shape 15"/>
          <p:cNvSpPr/>
          <p:nvPr/>
        </p:nvSpPr>
        <p:spPr>
          <a:xfrm>
            <a:off x="9507539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1779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2초</a:t>
            </a:r>
            <a:endParaRPr lang="ko-KR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0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24712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2.47초</a:t>
            </a:r>
            <a:endParaRPr lang="ko-KR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847088" cy="566928"/>
          </a:xfrm>
          <a:prstGeom prst="homePlate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움직임 후보</a:t>
            </a:r>
            <a:endParaRPr lang="ko-KR" sz="1300" dirty="0"/>
          </a:p>
        </p:txBody>
      </p:sp>
      <p:sp>
        <p:nvSpPr>
          <p:cNvPr id="23" name="Shape 21"/>
          <p:cNvSpPr/>
          <p:nvPr/>
        </p:nvSpPr>
        <p:spPr>
          <a:xfrm>
            <a:off x="2359152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60320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소형 객체 검출</a:t>
            </a:r>
            <a:endParaRPr lang="ko-KR" sz="1300" dirty="0"/>
          </a:p>
        </p:txBody>
      </p:sp>
      <p:sp>
        <p:nvSpPr>
          <p:cNvPr id="25" name="Shape 23"/>
          <p:cNvSpPr/>
          <p:nvPr/>
        </p:nvSpPr>
        <p:spPr>
          <a:xfrm>
            <a:off x="4169664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70832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궤적 추적</a:t>
            </a:r>
            <a:endParaRPr lang="ko-KR" sz="1300" dirty="0"/>
          </a:p>
        </p:txBody>
      </p:sp>
      <p:sp>
        <p:nvSpPr>
          <p:cNvPr id="27" name="Shape 25"/>
          <p:cNvSpPr/>
          <p:nvPr/>
        </p:nvSpPr>
        <p:spPr>
          <a:xfrm>
            <a:off x="5980176" y="3840480"/>
            <a:ext cx="1847088" cy="566928"/>
          </a:xfrm>
          <a:prstGeom prst="chevron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81344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중력 궤적 검증</a:t>
            </a:r>
            <a:endParaRPr lang="ko-KR" sz="1300" dirty="0"/>
          </a:p>
        </p:txBody>
      </p:sp>
      <p:sp>
        <p:nvSpPr>
          <p:cNvPr id="29" name="Shape 27"/>
          <p:cNvSpPr/>
          <p:nvPr/>
        </p:nvSpPr>
        <p:spPr>
          <a:xfrm>
            <a:off x="7790688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91856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착지점 예측</a:t>
            </a:r>
            <a:endParaRPr lang="ko-KR" sz="1300" dirty="0"/>
          </a:p>
        </p:txBody>
      </p:sp>
      <p:sp>
        <p:nvSpPr>
          <p:cNvPr id="31" name="Shape 29"/>
          <p:cNvSpPr/>
          <p:nvPr/>
        </p:nvSpPr>
        <p:spPr>
          <a:xfrm>
            <a:off x="9601200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02368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경보</a:t>
            </a:r>
            <a:endParaRPr lang="ko-KR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오경보 거르기</a:t>
            </a:r>
            <a:endParaRPr lang="ko-KR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257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움직임이 중력가속도(9.8m/s²)에 맞게 빨라지는지 확인합니다. 새, 비닐, 흔들리는 와이어는 여기서 걸러집니다.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현장에서 바로 판단</a:t>
            </a:r>
            <a:endParaRPr lang="ko-KR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5257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엣지 박스가 직접 경광등을 울립니다. 현장 통신이 끊겨도 경보는 나갑니다.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핵심 기능 ③  학습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사람이 다치지 않은 낙하까지 모두 기록합니다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dr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4937760" cy="3072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983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작업 전 · 점심 · 작업 종료 후 드론 순찰</a:t>
            </a:r>
            <a:endParaRPr lang="ko-KR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349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단부 자재 적치, 낙하물방지망 파손, 개구부 덮개 누락을 찾아 아침 TBM 전에 알려줍니다.</a:t>
            </a:r>
            <a:endParaRPr lang="ko-KR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1783080"/>
            <a:ext cx="5577840" cy="4160520"/>
          </a:xfrm>
          <a:prstGeom prst="roundRect">
            <a:avLst>
              <a:gd name="adj" fmla="val 13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039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현장 안전 리포트</a:t>
            </a:r>
            <a:endParaRPr lang="ko-KR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49840" y="2057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화면 예시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6355080" y="2514600"/>
            <a:ext cx="155448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9672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chemeClr val="tx1"/>
                </a:solidFill>
              </a:rPr>
              <a:t>12</a:t>
            </a:r>
            <a:endParaRPr lang="ko-KR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519672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오늘 이벤트</a:t>
            </a:r>
            <a:endParaRPr lang="ko-KR" sz="1100" dirty="0"/>
          </a:p>
        </p:txBody>
      </p:sp>
      <p:sp>
        <p:nvSpPr>
          <p:cNvPr id="13" name="Shape 10"/>
          <p:cNvSpPr/>
          <p:nvPr/>
        </p:nvSpPr>
        <p:spPr>
          <a:xfrm>
            <a:off x="8055864" y="2514600"/>
            <a:ext cx="155448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0456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chemeClr val="accent1"/>
                </a:solidFill>
              </a:rPr>
              <a:t>3</a:t>
            </a:r>
            <a:endParaRPr lang="ko-KR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220456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아차사고</a:t>
            </a:r>
            <a:endParaRPr lang="ko-KR" sz="1100" dirty="0"/>
          </a:p>
        </p:txBody>
      </p:sp>
      <p:sp>
        <p:nvSpPr>
          <p:cNvPr id="16" name="Shape 13"/>
          <p:cNvSpPr/>
          <p:nvPr/>
        </p:nvSpPr>
        <p:spPr>
          <a:xfrm>
            <a:off x="9756648" y="2514600"/>
            <a:ext cx="155448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92124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chemeClr val="tx1"/>
                </a:solidFill>
              </a:rPr>
              <a:t>100%</a:t>
            </a:r>
            <a:endParaRPr lang="ko-KR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조치 완료</a:t>
            </a:r>
            <a:endParaRPr lang="ko-KR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379476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14:02</a:t>
            </a:r>
            <a:endParaRPr lang="ko-KR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3794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tx1"/>
                </a:solidFill>
              </a:rPr>
              <a:t>낙하 감지 · 12층 동측</a:t>
            </a:r>
            <a:endParaRPr lang="ko-KR" sz="1300" dirty="0"/>
          </a:p>
        </p:txBody>
      </p:sp>
      <p:sp>
        <p:nvSpPr>
          <p:cNvPr id="21" name="Shape 18"/>
          <p:cNvSpPr/>
          <p:nvPr/>
        </p:nvSpPr>
        <p:spPr>
          <a:xfrm>
            <a:off x="10195560" y="3822192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19556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아차사고</a:t>
            </a:r>
            <a:endParaRPr lang="ko-KR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42702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10:15</a:t>
            </a:r>
            <a:endParaRPr lang="ko-KR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42702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tx1"/>
                </a:solidFill>
              </a:rPr>
              <a:t>위험구역 진입 · 크레인 1호</a:t>
            </a:r>
            <a:endParaRPr lang="ko-KR" sz="1300" dirty="0"/>
          </a:p>
        </p:txBody>
      </p:sp>
      <p:sp>
        <p:nvSpPr>
          <p:cNvPr id="25" name="Shape 22"/>
          <p:cNvSpPr/>
          <p:nvPr/>
        </p:nvSpPr>
        <p:spPr>
          <a:xfrm>
            <a:off x="10195560" y="429768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19556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경보</a:t>
            </a:r>
            <a:endParaRPr lang="ko-KR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355080" y="4745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07:12</a:t>
            </a:r>
            <a:endParaRPr lang="ko-KR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7457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tx1"/>
                </a:solidFill>
              </a:rPr>
              <a:t>드론 순찰 · 9층 방지망 파손</a:t>
            </a:r>
            <a:endParaRPr lang="ko-KR" sz="1300" dirty="0"/>
          </a:p>
        </p:txBody>
      </p:sp>
      <p:sp>
        <p:nvSpPr>
          <p:cNvPr id="29" name="Shape 26"/>
          <p:cNvSpPr/>
          <p:nvPr/>
        </p:nvSpPr>
        <p:spPr>
          <a:xfrm>
            <a:off x="10195560" y="4773168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9556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조치 완료</a:t>
            </a:r>
            <a:endParaRPr lang="ko-KR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5285232"/>
            <a:ext cx="49377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37960" y="52852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5"/>
                </a:solidFill>
              </a:rPr>
              <a:t>위험성평가 개선 이력 · 점검일지 자동 생성  →  중대재해처벌법 대응 증빙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기술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사고 영상이 없어도 학습할 수 있도록 데이터를 직접 만듭니다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synth-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529584" cy="244327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accent1"/>
                </a:solidFill>
              </a:rPr>
              <a:t>1</a:t>
            </a:r>
            <a:endParaRPr lang="ko-KR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96112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3D 물리 시뮬레이션</a:t>
            </a:r>
            <a:endParaRPr lang="ko-KR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48463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높이, 물체, 조명, 날씨를 바꿔가며 낙하 장면을 대량으로 만듭니다.</a:t>
            </a:r>
            <a:endParaRPr lang="ko-KR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3008376"/>
            <a:ext cx="16459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pic>
        <p:nvPicPr>
          <p:cNvPr id="9" name="Image 1" descr="/Users/leeseungbo/Desktop/창업/신한스퀘어브릿지 지원사업/pitch/deck/assets/synth-compos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783080"/>
            <a:ext cx="3529584" cy="244327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15968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accent1"/>
                </a:solidFill>
              </a:rPr>
              <a:t>2</a:t>
            </a:r>
            <a:endParaRPr lang="ko-KR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66344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실제 현장 영상에 합성</a:t>
            </a:r>
            <a:endParaRPr lang="ko-KR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48463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현장 CCTV 배경 위에 렌더링한 낙하물을 모션 블러까지 입혀 붙입니다.</a:t>
            </a:r>
            <a:endParaRPr lang="ko-KR" sz="1300" dirty="0"/>
          </a:p>
        </p:txBody>
      </p:sp>
      <p:sp>
        <p:nvSpPr>
          <p:cNvPr id="13" name="Shape 9"/>
          <p:cNvSpPr/>
          <p:nvPr/>
        </p:nvSpPr>
        <p:spPr>
          <a:xfrm>
            <a:off x="7882128" y="3008376"/>
            <a:ext cx="16459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pic>
        <p:nvPicPr>
          <p:cNvPr id="14" name="Image 2" descr="/Users/leeseungbo/Desktop/창업/신한스퀘어브릿지 지원사업/pitch/deck/assets/synth-t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783080"/>
            <a:ext cx="3529584" cy="24432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83296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accent1"/>
                </a:solidFill>
              </a:rPr>
              <a:t>3</a:t>
            </a:r>
            <a:endParaRPr lang="ko-KR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430768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실측 낙하 시험으로 검증</a:t>
            </a:r>
            <a:endParaRPr lang="ko-KR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30768" y="48463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더미 물체를 떨어뜨린 실제 영상은 평가에만 써서 실력을 확인합니다.</a:t>
            </a:r>
            <a:endParaRPr lang="ko-KR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사전학습: 공개 낙하물 영상 데이터셋 FADE(영상 2,611개, arXiv:2408.05750)  ·  실제 낙하 사고 영상은 거의 없어 합성 데이터가 필수입니다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시장 규모 · 국내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국내 스마트 안전장비 예산 한도는 연 7,430억 원입니다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874520"/>
            <a:ext cx="3931920" cy="3931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05940" y="3291840"/>
            <a:ext cx="2514600" cy="25146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480060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2"/>
                </a:solidFill>
              </a:rPr>
              <a:t>TAM</a:t>
            </a:r>
            <a:endParaRPr lang="ko-KR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3.7조 원</a:t>
            </a:r>
            <a:endParaRPr lang="ko-KR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3"/>
                </a:solidFill>
              </a:rPr>
              <a:t>SAM</a:t>
            </a:r>
            <a:endParaRPr lang="ko-KR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7,430억 원</a:t>
            </a:r>
            <a:endParaRPr lang="ko-KR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50566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SOM</a:t>
            </a:r>
            <a:endParaRPr lang="ko-KR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527608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bg1"/>
                </a:solidFill>
              </a:rPr>
              <a:t>60억</a:t>
            </a:r>
            <a:endParaRPr lang="ko-KR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1828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2"/>
                </a:solidFill>
              </a:rPr>
              <a:t>TAM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82880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글로벌 건설현장 안전 모니터링 시장</a:t>
            </a:r>
            <a:endParaRPr lang="ko-KR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221284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27.1억 달러 (2025) → 2030년 6.4조 원, 연 11.3% 성장</a:t>
            </a:r>
            <a:endParaRPr lang="ko-KR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546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2"/>
                </a:solidFill>
              </a:rPr>
              <a:t>SAM</a:t>
            </a:r>
            <a:endParaRPr lang="ko-KR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315468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국내 산안비 중 스마트 안전장비 사용 한도 (연)</a:t>
            </a:r>
            <a:endParaRPr lang="ko-KR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3538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건설수주 221.1조 원 × 70% × 요율 2.4% = 산안비 약 3.7조 원</a:t>
            </a:r>
            <a:endParaRPr lang="ko-KR" sz="125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× 스마트 장비 사용한도 20% = 약 7,430억 원 (규정상 최대치)</a:t>
            </a:r>
            <a:endParaRPr lang="ko-KR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989320" y="4480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SOM</a:t>
            </a:r>
            <a:endParaRPr lang="ko-KR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448056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5년 차 목표 매출</a:t>
            </a:r>
            <a:endParaRPr lang="ko-KR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486460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200개 현장 × 월 250만 원 × 12개월 = 60억 원 (SAM의 0.8%)</a:t>
            </a:r>
            <a:endParaRPr lang="ko-KR" sz="1250" dirty="0"/>
          </a:p>
        </p:txBody>
      </p:sp>
      <p:sp>
        <p:nvSpPr>
          <p:cNvPr id="22" name="Shape 20"/>
          <p:cNvSpPr/>
          <p:nvPr/>
        </p:nvSpPr>
        <p:spPr>
          <a:xfrm>
            <a:off x="5989320" y="5349240"/>
            <a:ext cx="5623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534924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50" dirty="0">
                <a:solidFill>
                  <a:schemeClr val="accent5"/>
                </a:solidFill>
              </a:rPr>
              <a:t>단가 점검 · 공사비 300억 원 현장의 스마트 장비 한도는 월 약 330만 원, 구독료 월 250만 원은 그 안에 들어갑니다.</a:t>
            </a:r>
            <a:endParaRPr lang="ko-KR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출처: 건설산업연구원 건설동향브리핑 1055호(2026. 4.), 고용노동부고시 제2024-53호·제2025-11호, Research and Markets(Knowledge Sourcing, 2025. 2.). 환율 1,380원/달러. 대상 70%·요율 2.4%·현장 수·단가는 가정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시장 규모 · 해외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해외 건설현장 안전 모니터링 시장은 2030년 6.4조 원으로 커집니다</a:t>
            </a:r>
            <a:endParaRPr lang="ko-K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69480" y="1828800"/>
            <a:ext cx="4343400" cy="1143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싱가포르</a:t>
            </a:r>
            <a:endParaRPr lang="ko-KR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984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MOM, 2024. 5.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331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2024년 6월부터 계약금액 S$500만 이상 현장의 고위험 작업 구역에 영상감시 설치 의무화</a:t>
            </a:r>
            <a:endParaRPr lang="ko-KR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54680"/>
            <a:ext cx="4343400" cy="1143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미국</a:t>
            </a:r>
            <a:endParaRPr lang="ko-KR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3310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CPWR, 2025. 4.</a:t>
            </a:r>
            <a:endParaRPr lang="ko-KR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36576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‘물체에 맞음(Struck-by)’은 건설 4대 위험 중 사망 2위. 2023년 154명</a:t>
            </a:r>
            <a:endParaRPr lang="ko-KR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4480560"/>
            <a:ext cx="4343400" cy="1143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한국 건설사 해외 현장</a:t>
            </a:r>
            <a:endParaRPr lang="ko-KR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966960" y="46360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진출 전략</a:t>
            </a:r>
            <a:endParaRPr lang="ko-KR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49834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국내에서 검증한 패키지를 한국 건설사가 해외 현장에 나갈 때 같이 가져갑니다</a:t>
            </a:r>
            <a:endParaRPr lang="ko-KR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출처: Research and Markets(Knowledge Sourcing 2025. 2. / GSBR 2025. 9.), Mordor Intelligence(건설 AI, 2025→2030). 건설 드론은 2024년 기준. 환율 1,380원/달러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비즈니스 모델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현장마다 받는 월 구독료는 산안비에서 나옵니다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2377440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건설사 · 현장</a:t>
            </a:r>
            <a:endParaRPr lang="ko-KR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47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50" dirty="0">
                <a:solidFill>
                  <a:schemeClr val="accent2"/>
                </a:solidFill>
              </a:rPr>
              <a:t>중견 건설사 고층 현장</a:t>
            </a:r>
            <a:endParaRPr lang="ko-KR" sz="1150" dirty="0"/>
          </a:p>
        </p:txBody>
      </p:sp>
      <p:sp>
        <p:nvSpPr>
          <p:cNvPr id="7" name="Shape 5"/>
          <p:cNvSpPr/>
          <p:nvPr/>
        </p:nvSpPr>
        <p:spPr>
          <a:xfrm>
            <a:off x="5120640" y="3017520"/>
            <a:ext cx="237744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5780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2000" b="1" dirty="0">
                <a:solidFill>
                  <a:schemeClr val="bg1"/>
                </a:solidFill>
              </a:rPr>
              <a:t>DropZero</a:t>
            </a:r>
            <a:endParaRPr lang="ko-KR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3547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50" dirty="0">
                <a:solidFill>
                  <a:schemeClr val="accent4"/>
                </a:solidFill>
              </a:rPr>
              <a:t>팀 GA</a:t>
            </a:r>
            <a:endParaRPr lang="ko-KR" sz="1150" dirty="0"/>
          </a:p>
        </p:txBody>
      </p:sp>
      <p:sp>
        <p:nvSpPr>
          <p:cNvPr id="10" name="Shape 8"/>
          <p:cNvSpPr/>
          <p:nvPr/>
        </p:nvSpPr>
        <p:spPr>
          <a:xfrm>
            <a:off x="9235440" y="3017520"/>
            <a:ext cx="2377440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37260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보험사 · 금융기관</a:t>
            </a:r>
            <a:endParaRPr lang="ko-KR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372600" y="3547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50" dirty="0">
                <a:solidFill>
                  <a:schemeClr val="accent2"/>
                </a:solidFill>
              </a:rPr>
              <a:t>확장 단계</a:t>
            </a:r>
            <a:endParaRPr lang="ko-KR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169164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16916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발주자 · 산업안전보건관리비</a:t>
            </a:r>
            <a:endParaRPr lang="ko-KR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69164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57800" y="16916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국토부 중소현장 장비 지원</a:t>
            </a:r>
            <a:endParaRPr lang="ko-KR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2926080" y="3291840"/>
            <a:ext cx="219456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97180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장비 + AI 관제 서비스</a:t>
            </a:r>
            <a:endParaRPr lang="ko-KR" sz="1200" dirty="0"/>
          </a:p>
        </p:txBody>
      </p:sp>
      <p:sp>
        <p:nvSpPr>
          <p:cNvPr id="19" name="Shape 17"/>
          <p:cNvSpPr/>
          <p:nvPr/>
        </p:nvSpPr>
        <p:spPr>
          <a:xfrm>
            <a:off x="2926080" y="3794760"/>
            <a:ext cx="21945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71800" y="3858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현장당 월 구독료</a:t>
            </a:r>
            <a:endParaRPr lang="ko-KR" sz="1200" dirty="0"/>
          </a:p>
        </p:txBody>
      </p:sp>
      <p:sp>
        <p:nvSpPr>
          <p:cNvPr id="21" name="Shape 19"/>
          <p:cNvSpPr/>
          <p:nvPr/>
        </p:nvSpPr>
        <p:spPr>
          <a:xfrm>
            <a:off x="7498080" y="3291840"/>
            <a:ext cx="173736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98080" y="29443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현장 위험 점수</a:t>
            </a:r>
            <a:endParaRPr lang="ko-KR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498080" y="3794760"/>
            <a:ext cx="17373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498080" y="3858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데이터 이용료</a:t>
            </a:r>
            <a:endParaRPr lang="ko-KR" sz="1200" dirty="0"/>
          </a:p>
        </p:txBody>
      </p:sp>
      <p:sp>
        <p:nvSpPr>
          <p:cNvPr id="25" name="Shape 23"/>
          <p:cNvSpPr/>
          <p:nvPr/>
        </p:nvSpPr>
        <p:spPr>
          <a:xfrm>
            <a:off x="1737360" y="2423160"/>
            <a:ext cx="0" cy="59436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2487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구입·임대비 100% 인정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(산안비의 20%까지)</a:t>
            </a:r>
            <a:endParaRPr lang="ko-KR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423160"/>
            <a:ext cx="0" cy="59436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6419088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300억 미만 현장 무상 대여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임대 공급사로 참여</a:t>
            </a:r>
            <a:endParaRPr lang="ko-KR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3529584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690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① 장비 렌탈</a:t>
            </a:r>
            <a:endParaRPr lang="ko-KR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474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00" dirty="0">
                <a:solidFill>
                  <a:schemeClr val="accent3"/>
                </a:solidFill>
              </a:rPr>
              <a:t>엣지 박스 · 전용 카메라 · 경광등을 공사 기간 동안 빌려줍니다.</a:t>
            </a:r>
            <a:endParaRPr lang="ko-KR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4572000"/>
            <a:ext cx="3529584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44568" y="4690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② AI 관제 구독</a:t>
            </a:r>
            <a:endParaRPr lang="ko-KR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544568" y="50474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00" dirty="0">
                <a:solidFill>
                  <a:schemeClr val="accent3"/>
                </a:solidFill>
              </a:rPr>
              <a:t>현장당 월 250만 원 내외(가정). 공사비 300억 원 현장의 스마트 장비 한도(월 약 330만 원) 안입니다.</a:t>
            </a:r>
            <a:endParaRPr lang="ko-KR" sz="1200" dirty="0"/>
          </a:p>
        </p:txBody>
      </p:sp>
      <p:sp>
        <p:nvSpPr>
          <p:cNvPr id="35" name="Shape 33"/>
          <p:cNvSpPr/>
          <p:nvPr/>
        </p:nvSpPr>
        <p:spPr>
          <a:xfrm>
            <a:off x="8083296" y="4572000"/>
            <a:ext cx="3529584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11896" y="4690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③ 위험 데이터 (확장)</a:t>
            </a:r>
            <a:endParaRPr lang="ko-KR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311896" y="50474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00" dirty="0">
                <a:solidFill>
                  <a:schemeClr val="accent3"/>
                </a:solidFill>
              </a:rPr>
              <a:t>보험 요율 · PF 리스크 평가에 쓰는 현장 위험 점수를 제공합니다.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경쟁 구도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기존 AI CCTV가 놓치는 떨어지는 물체까지 봅니다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783080"/>
            <a:ext cx="5669280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1783080"/>
            <a:ext cx="0" cy="37490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3657600"/>
            <a:ext cx="566928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5605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사후 기록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5605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사전 예방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낙하물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특화</a:t>
            </a:r>
            <a:endParaRPr lang="ko-KR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983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범용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감지</a:t>
            </a:r>
            <a:endParaRPr lang="ko-KR" sz="1100" dirty="0"/>
          </a:p>
        </p:txBody>
      </p:sp>
      <p:sp>
        <p:nvSpPr>
          <p:cNvPr id="11" name="Shape 9"/>
          <p:cNvSpPr/>
          <p:nvPr/>
        </p:nvSpPr>
        <p:spPr>
          <a:xfrm>
            <a:off x="2308860" y="4366260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25880" y="48234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현장 CCTV 녹화 · 관제</a:t>
            </a:r>
            <a:endParaRPr lang="ko-KR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379476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범용 AI CCTV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(안전모 · 침입 · 화재)</a:t>
            </a:r>
            <a:endParaRPr lang="ko-KR" sz="1200" dirty="0"/>
          </a:p>
        </p:txBody>
      </p:sp>
      <p:sp>
        <p:nvSpPr>
          <p:cNvPr id="15" name="Shape 13"/>
          <p:cNvSpPr/>
          <p:nvPr/>
        </p:nvSpPr>
        <p:spPr>
          <a:xfrm>
            <a:off x="5829300" y="4366260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48234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BLE 접근 경보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웨어러블</a:t>
            </a:r>
            <a:endParaRPr lang="ko-KR" sz="1200" dirty="0"/>
          </a:p>
        </p:txBody>
      </p:sp>
      <p:sp>
        <p:nvSpPr>
          <p:cNvPr id="17" name="Shape 15"/>
          <p:cNvSpPr/>
          <p:nvPr/>
        </p:nvSpPr>
        <p:spPr>
          <a:xfrm>
            <a:off x="5326380" y="22174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29489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DropZero</a:t>
            </a:r>
            <a:endParaRPr lang="ko-K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낙하물 사고의 전 과정</a:t>
            </a:r>
            <a:endParaRPr lang="ko-KR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267712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위험요소 점검부터 하부 노출 차단, 낙하 감지, 기록까지 한 시스템이 맡습니다.</a:t>
            </a:r>
            <a:endParaRPr lang="ko-KR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172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크레인을 따라 움직이는 위험구역</a:t>
            </a:r>
            <a:endParaRPr lang="ko-KR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566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출입금지 구역을 고정하지 않고 인양물 위치에 맞춰 계속 다시 그립니다.</a:t>
            </a:r>
            <a:endParaRPr lang="ko-KR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44714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물리 기반 판별</a:t>
            </a:r>
            <a:endParaRPr lang="ko-KR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중력 궤적 검증으로 오경보를 줄여, 현장이 경보를 꺼버리지 않게 합니다.</a:t>
            </a:r>
            <a:endParaRPr lang="ko-KR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범용 AI CCTV 예: 카스웍스, 알체라, SAIGE 등 (각사 공개 자료 기준). 위치는 기능 범위를 비교한 개념도입니다.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실행 계획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내년 파일럿 현장 한 곳에서 오경보율과 지연을 잽니다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262432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2026. 11</a:t>
            </a:r>
            <a:endParaRPr lang="ko-KR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PoC 시연</a:t>
            </a:r>
            <a:endParaRPr lang="ko-KR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더미 낙하 → 엣지 감지 → 경광등 점등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합성 데이터로 1차 학습</a:t>
            </a:r>
            <a:endParaRPr lang="ko-KR" sz="1300" dirty="0"/>
          </a:p>
        </p:txBody>
      </p:sp>
      <p:sp>
        <p:nvSpPr>
          <p:cNvPr id="9" name="Shape 7"/>
          <p:cNvSpPr/>
          <p:nvPr/>
        </p:nvSpPr>
        <p:spPr>
          <a:xfrm>
            <a:off x="3493008" y="2624328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3"/>
                </a:solidFill>
              </a:rPr>
              <a:t>2027 상반기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파일럿 현장 1곳</a:t>
            </a:r>
            <a:endParaRPr lang="ko-KR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인양 위험구역과 낙하 기록 실증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오경보율 · 종단 지연 실측</a:t>
            </a:r>
            <a:endParaRPr lang="ko-KR" sz="1300" dirty="0"/>
          </a:p>
        </p:txBody>
      </p:sp>
      <p:sp>
        <p:nvSpPr>
          <p:cNvPr id="13" name="Shape 11"/>
          <p:cNvSpPr/>
          <p:nvPr/>
        </p:nvSpPr>
        <p:spPr>
          <a:xfrm>
            <a:off x="6281928" y="2624328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3"/>
                </a:solidFill>
              </a:rPr>
              <a:t>2027 하반기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제품화</a:t>
            </a:r>
            <a:endParaRPr lang="ko-KR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스마트 안전장비 지원사업 공급 등록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하드웨어 KC 인증</a:t>
            </a:r>
            <a:endParaRPr lang="ko-KR" sz="1300" dirty="0"/>
          </a:p>
        </p:txBody>
      </p:sp>
      <p:sp>
        <p:nvSpPr>
          <p:cNvPr id="17" name="Shape 15"/>
          <p:cNvSpPr/>
          <p:nvPr/>
        </p:nvSpPr>
        <p:spPr>
          <a:xfrm>
            <a:off x="9070848" y="2624328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8972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3"/>
                </a:solidFill>
              </a:rPr>
              <a:t>2028~</a:t>
            </a:r>
            <a:endParaRPr lang="ko-K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확장</a:t>
            </a:r>
            <a:endParaRPr lang="ko-KR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대형 건설사 API 공급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싱가포르 등 해외 · 보험 연계</a:t>
            </a:r>
            <a:endParaRPr lang="ko-KR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6424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868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파일럿 목표   </a:t>
            </a:r>
            <a:pPr eaLnBrk="0" indent="0" marL="0">
              <a:buNone/>
            </a:pPr>
            <a:r>
              <a:rPr lang="ko-KR" sz="1500" dirty="0">
                <a:solidFill>
                  <a:schemeClr val="tx1"/>
                </a:solidFill>
              </a:rPr>
              <a:t>카메라당 오경보 시간당 0.1건 이하  ·  감지에서 경보까지 0.35초 이내  ·  위험구역 진입 경보 누락 0건</a:t>
            </a:r>
            <a:endParaRPr lang="ko-K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팀 GA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현장만 정해지면 바로 실증에 들어갈 세 사람입니다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212848" cy="3566160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8116" y="2149754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8116" y="224851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8116" y="2413102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8116" y="264353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9312" y="2910992"/>
            <a:ext cx="121615" cy="12161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이승보</a:t>
            </a:r>
            <a:endParaRPr lang="ko-KR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역할 입력</a:t>
            </a:r>
            <a:endParaRPr lang="ko-KR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60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전공 · 경험 입력</a:t>
            </a:r>
            <a:endParaRPr lang="ko-KR" sz="1200" dirty="0"/>
          </a:p>
        </p:txBody>
      </p:sp>
      <p:sp>
        <p:nvSpPr>
          <p:cNvPr id="13" name="Shape 11"/>
          <p:cNvSpPr/>
          <p:nvPr/>
        </p:nvSpPr>
        <p:spPr>
          <a:xfrm>
            <a:off x="2944368" y="1828800"/>
            <a:ext cx="2212848" cy="3566160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23844" y="2149754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23844" y="224851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3844" y="2413102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3844" y="264353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5040" y="2910992"/>
            <a:ext cx="121615" cy="12161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18688" y="3337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이성재</a:t>
            </a:r>
            <a:endParaRPr lang="ko-KR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218688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역할 입력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218688" y="4160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전공 · 경험 입력</a:t>
            </a:r>
            <a:endParaRPr lang="ko-KR" sz="1200" dirty="0"/>
          </a:p>
        </p:txBody>
      </p:sp>
      <p:sp>
        <p:nvSpPr>
          <p:cNvPr id="22" name="Shape 20"/>
          <p:cNvSpPr/>
          <p:nvPr/>
        </p:nvSpPr>
        <p:spPr>
          <a:xfrm>
            <a:off x="5340096" y="1828800"/>
            <a:ext cx="2212848" cy="3566160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19572" y="2149754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19572" y="224851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9572" y="2413102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19572" y="264353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90768" y="2910992"/>
            <a:ext cx="121615" cy="12161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14416" y="3337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장재홍</a:t>
            </a:r>
            <a:endParaRPr lang="ko-KR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5614416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역할 입력</a:t>
            </a:r>
            <a:endParaRPr lang="ko-KR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14416" y="4160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전공 · 경험 입력</a:t>
            </a:r>
            <a:endParaRPr lang="ko-KR" sz="1200" dirty="0"/>
          </a:p>
        </p:txBody>
      </p:sp>
      <p:sp>
        <p:nvSpPr>
          <p:cNvPr id="31" name="Shape 29"/>
          <p:cNvSpPr/>
          <p:nvPr/>
        </p:nvSpPr>
        <p:spPr>
          <a:xfrm>
            <a:off x="8001000" y="1828800"/>
            <a:ext cx="3611880" cy="3566160"/>
          </a:xfrm>
          <a:prstGeom prst="roundRect">
            <a:avLst>
              <a:gd name="adj" fmla="val 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맞기 전에 막겠습니다.</a:t>
            </a:r>
            <a:endParaRPr lang="ko-KR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bg1"/>
                </a:solidFill>
              </a:rPr>
              <a:t>필요한 것</a:t>
            </a:r>
            <a:endParaRPr lang="ko-KR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파일럿 현장 1곳</a:t>
            </a:r>
            <a:endParaRPr lang="ko-KR" sz="1400" dirty="0"/>
          </a:p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(고층 건축 · 타워크레인 운용)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3566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실측 낙하 시험 장소</a:t>
            </a:r>
            <a:endParaRPr lang="ko-KR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434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건설 안전 실무 자문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ropZero">
      <a:dk1>
        <a:srgbClr val="1B1D21"/>
      </a:dk1>
      <a:lt1>
        <a:srgbClr val="FFFFFF"/>
      </a:lt1>
      <a:dk2>
        <a:srgbClr val="16181B"/>
      </a:dk2>
      <a:lt2>
        <a:srgbClr val="F3F4F6"/>
      </a:lt2>
      <a:accent1>
        <a:srgbClr val="FF5A1F"/>
      </a:accent1>
      <a:accent2>
        <a:srgbClr val="8A9099"/>
      </a:accent2>
      <a:accent3>
        <a:srgbClr val="4A4F57"/>
      </a:accent3>
      <a:accent4>
        <a:srgbClr val="C9CDD3"/>
      </a:accent4>
      <a:accent5>
        <a:srgbClr val="2B2F35"/>
      </a:accent5>
      <a:accent6>
        <a:srgbClr val="E3E5E8"/>
      </a:accent6>
      <a:hlink>
        <a:srgbClr val="FF5A1F"/>
      </a:hlink>
      <a:folHlink>
        <a:srgbClr val="8A9099"/>
      </a:folHlink>
    </a:clrScheme>
    <a:fontScheme name="Offic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DropZero IR 피치덱</dc:title>
  <dc:subject>PptxGenJS Presentation</dc:subject>
  <dc:creator>팀 GA (이승보, 이성재, 장재홍)</dc:creator>
  <cp:lastModifiedBy>팀 GA (이승보, 이성재, 장재홍)</cp:lastModifiedBy>
  <cp:revision>1</cp:revision>
  <dcterms:created xsi:type="dcterms:W3CDTF">2026-10-30T07:41:55Z</dcterms:created>
  <dcterms:modified xsi:type="dcterms:W3CDTF">2026-10-30T07:41:55Z</dcterms:modified>
</cp:coreProperties>
</file>