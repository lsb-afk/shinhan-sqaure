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907677a-9167-8512-5241-8f0ce45953fc}">
          <p14:sldIdLst>
            <p14:sldId id="256"/>
          </p14:sldIdLst>
        </p14:section>
        <p14:section name="01 시장·사업성 검토" id="{2d20ae18-3686-dfa4-0119-a8f8ef0fbe0d}">
          <p14:sldIdLst>
            <p14:sldId id="257"/>
            <p14:sldId id="258"/>
            <p14:sldId id="259"/>
          </p14:sldIdLst>
        </p14:section>
        <p14:section name="02 규제·제도 요건 분석" id="{29bc269b-1440-ff7b-b8d1-62944530e19c}">
          <p14:sldIdLst>
            <p14:sldId id="260"/>
          </p14:sldIdLst>
        </p14:section>
        <p14:section name="03 제품·기술 실행방안" id="{e525ab10-74b7-2bb6-94aa-81f8215b18dc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4 사업화 전략" id="{494895ea-3f7b-6b6a-bd4d-74a4a10d155a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물체에 맞음</c:v>
                </c:pt>
              </c:strCache>
            </c:strRef>
          </c:tx>
          <c:spPr>
            <a:solidFill>
              <a:srgbClr val="FF5A1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  <a:ea typeface="+mn-ea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무너짐</c:v>
                  </c:pt>
                  <c:pt idx="1">
                    <c:v>부딪힘</c:v>
                  </c:pt>
                  <c:pt idx="2">
                    <c:v>물체에 맞음</c:v>
                  </c:pt>
                  <c:pt idx="3">
                    <c:v>떨어짐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72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그 외</c:v>
                </c:pt>
              </c:strCache>
            </c:strRef>
          </c:tx>
          <c:spPr>
            <a:solidFill>
              <a:srgbClr val="8A9099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  <a:ea typeface="+mn-ea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무너짐</c:v>
                  </c:pt>
                  <c:pt idx="1">
                    <c:v>부딪힘</c:v>
                  </c:pt>
                  <c:pt idx="2">
                    <c:v>물체에 맞음</c:v>
                  </c:pt>
                  <c:pt idx="3">
                    <c:v>떨어짐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0</c:v>
                </c:pt>
                <c:pt idx="3">
                  <c:v>249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  <a:ea typeface="+mn-ea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7"/>
                </a:solidFill>
                <a:latin typeface="+mn-lt"/>
                <a:ea typeface="+mn-e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  <a:ea typeface="+mn-e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2024~25년</c:v>
                </c:pt>
              </c:strCache>
            </c:strRef>
          </c:tx>
          <c:spPr>
            <a:solidFill>
              <a:srgbClr val="D2D4D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D21"/>
                    </a:solidFill>
                    <a:latin typeface="+mn-lt"/>
                    <a:ea typeface="+mn-e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안전 모니터링</c:v>
                  </c:pt>
                  <c:pt idx="1">
                    <c:v>건설 AI</c:v>
                  </c:pt>
                  <c:pt idx="2">
                    <c:v>건설 드론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3.73</c:v>
                </c:pt>
                <c:pt idx="1">
                  <c:v>6.84</c:v>
                </c:pt>
                <c:pt idx="2">
                  <c:v>6.35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2030년</c:v>
                </c:pt>
              </c:strCache>
            </c:strRef>
          </c:tx>
          <c:spPr>
            <a:solidFill>
              <a:srgbClr val="FF5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D21"/>
                    </a:solidFill>
                    <a:latin typeface="+mn-lt"/>
                    <a:ea typeface="+mn-e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안전 모니터링</c:v>
                  </c:pt>
                  <c:pt idx="1">
                    <c:v>건설 AI</c:v>
                  </c:pt>
                  <c:pt idx="2">
                    <c:v>건설 드론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6.37</c:v>
                </c:pt>
                <c:pt idx="1">
                  <c:v>20.3</c:v>
                </c:pt>
                <c:pt idx="2">
                  <c:v>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B1D21"/>
                  </a:solidFill>
                  <a:latin typeface="+mn-lt"/>
                  <a:ea typeface="+mn-e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57"/>
                </a:solidFill>
                <a:latin typeface="+mn-lt"/>
                <a:ea typeface="+mn-e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  <a:ea typeface="+mn-e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A4F57"/>
              </a:solidFill>
              <a:latin typeface="+mn-lt"/>
              <a:ea typeface="+mn-ea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"/>
            <a:ext cx="1234440" cy="640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708660"/>
            <a:ext cx="1095725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6960" y="274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300" b="1" spc="100" kern="0" dirty="0">
                <a:solidFill>
                  <a:schemeClr val="accent2"/>
                </a:solidFill>
              </a:rPr>
              <a:t>DropZero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0" y="6473952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Copyright © 2026 Team GA. All Rights Reserved.</a:t>
            </a:r>
            <a:endParaRPr lang="ko-KR" sz="85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6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sz="26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200" dirty="0">
                <a:solidFill>
                  <a:schemeClr val="accent3"/>
                </a:solidFill>
              </a:defRPr>
            </a:lvl1pPr>
          </a:lstStyle>
          <a:p>
            <a:pPr eaLnBrk="0" algn="l" indent="0" marL="0">
              <a:buNone/>
            </a:pPr>
            <a:endParaRPr lang="ko-KR" sz="1200" dirty="0"/>
          </a:p>
        </p:txBody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800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1002</a:t>
            </a:fld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1234440" cy="640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6960" y="274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300" b="1" spc="100" kern="0" dirty="0">
                <a:solidFill>
                  <a:schemeClr val="accent4"/>
                </a:solidFill>
              </a:rPr>
              <a:t>DropZero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0" y="6473952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Copyright © 2026 Team GA. All Rights Reserved.</a:t>
            </a:r>
            <a:endParaRPr lang="ko-KR" sz="85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6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sz="26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200" dirty="0">
                <a:solidFill>
                  <a:schemeClr val="accent4"/>
                </a:solidFill>
              </a:defRPr>
            </a:lvl1pPr>
          </a:lstStyle>
          <a:p>
            <a:pPr eaLnBrk="0" algn="l" indent="0" marL="0">
              <a:buNone/>
            </a:pPr>
            <a:endParaRPr lang="ko-KR" sz="1200" dirty="0"/>
          </a:p>
        </p:txBody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14173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800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sz="28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1417320" y="1554480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ko-KR" sz="1250" dirty="0">
                <a:solidFill>
                  <a:schemeClr val="accent4"/>
                </a:solidFill>
              </a:defRPr>
            </a:lvl1pPr>
          </a:lstStyle>
          <a:p>
            <a:pPr eaLnBrk="0" algn="l" indent="0" marL="0">
              <a:lnSpc>
                <a:spcPct val="120000"/>
              </a:lnSpc>
              <a:buNone/>
            </a:pP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1003</a:t>
            </a:fld>
            <a:endParaRPr 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1234440" cy="640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708660"/>
            <a:ext cx="78940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300" b="1" spc="100" kern="0" dirty="0">
                <a:solidFill>
                  <a:schemeClr val="accent2"/>
                </a:solidFill>
              </a:rPr>
              <a:t>DropZero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0" y="6473952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Copyright © 2026 Team GA. All Rights Reserved.</a:t>
            </a:r>
            <a:endParaRPr lang="ko-KR" sz="8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6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sz="26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1417320" y="393192"/>
            <a:ext cx="2743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200" dirty="0">
                <a:solidFill>
                  <a:schemeClr val="accent3"/>
                </a:solidFill>
              </a:defRPr>
            </a:lvl1pPr>
          </a:lstStyle>
          <a:p>
            <a:pPr eaLnBrk="0" algn="l" indent="0" marL="0">
              <a:buNone/>
            </a:pPr>
            <a:endParaRPr lang="ko-KR" sz="12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502920" y="1097280"/>
            <a:ext cx="35661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ko-KR" sz="3200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lnSpc>
                <a:spcPct val="105000"/>
              </a:lnSpc>
              <a:buNone/>
            </a:pPr>
            <a:endParaRPr lang="ko-KR" sz="32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530352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200" dirty="0">
                <a:solidFill>
                  <a:schemeClr val="accent2"/>
                </a:solidFill>
              </a:defRPr>
            </a:lvl1pPr>
          </a:lstStyle>
          <a:p>
            <a:pPr eaLnBrk="0" algn="l" indent="0" marL="0">
              <a:buNone/>
            </a:pP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1004</a:t>
            </a:fld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850" dirty="0">
                <a:solidFill>
                  <a:schemeClr val="accent3"/>
                </a:solidFill>
              </a:rPr>
              <a:t>Copyright © 2026 Team GA. All Rights Reserved.</a:t>
            </a:r>
            <a:endParaRPr lang="ko-KR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null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eseungbo/Desktop/창업/신한스퀘어브릿지 지원사업/pitch/deck/assets/cover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accent4"/>
                </a:solidFill>
              </a:rPr>
              <a:t>건설현장 낙하물 사고 예방을 위한</a:t>
            </a:r>
            <a:endParaRPr lang="ko-KR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88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0000"/>
              </a:lnSpc>
              <a:buNone/>
            </a:pPr>
            <a:r>
              <a:rPr lang="ko-KR" sz="4000" b="1" dirty="0">
                <a:solidFill>
                  <a:schemeClr val="bg1"/>
                </a:solidFill>
              </a:rPr>
              <a:t>AI 낙하물 안전 관제</a:t>
            </a:r>
            <a:endParaRPr lang="ko-KR" sz="1300" dirty="0"/>
          </a:p>
          <a:p>
            <a:pPr eaLnBrk="0" indent="0" marL="0">
              <a:lnSpc>
                <a:spcPct val="100000"/>
              </a:lnSpc>
              <a:buNone/>
            </a:pPr>
            <a:r>
              <a:rPr lang="ko-KR" sz="5800" b="1" dirty="0">
                <a:solidFill>
                  <a:schemeClr val="bg1"/>
                </a:solidFill>
              </a:rPr>
              <a:t>DropZero</a:t>
            </a:r>
            <a:endParaRPr lang="ko-KR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dirty="0">
                <a:solidFill>
                  <a:schemeClr val="bg1"/>
                </a:solidFill>
              </a:rPr>
              <a:t>건설현장 낙하물 사고, </a:t>
            </a:r>
            <a:pPr eaLnBrk="0" indent="0" marL="0">
              <a:buNone/>
            </a:pPr>
            <a:r>
              <a:rPr lang="ko-KR" sz="1500" b="1" dirty="0">
                <a:solidFill>
                  <a:schemeClr val="bg1"/>
                </a:solidFill>
                <a:highlight>
                  <a:srgbClr val="FF5A1F"/>
                </a:highlight>
              </a:rPr>
              <a:t> 맞기 전에 </a:t>
            </a:r>
            <a:pPr eaLnBrk="0" indent="0" marL="0">
              <a:buNone/>
            </a:pPr>
            <a:r>
              <a:rPr lang="ko-KR" sz="1500" dirty="0">
                <a:solidFill>
                  <a:schemeClr val="bg1"/>
                </a:solidFill>
              </a:rPr>
              <a:t> 막습니다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687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팀 GA   </a:t>
            </a:r>
            <a:pPr eaLnBrk="0" indent="0" marL="0">
              <a:buNone/>
            </a:pPr>
            <a:r>
              <a:rPr lang="ko-KR" sz="1200" dirty="0">
                <a:solidFill>
                  <a:schemeClr val="accent4"/>
                </a:solidFill>
              </a:rPr>
              <a:t>이승보 · 이성재 · 장재홍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35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2026 신한 스퀘어브릿지 대학생 창업 공모전 HERO IR</a:t>
            </a:r>
            <a:endParaRPr lang="ko-KR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bg1"/>
                </a:solidFill>
              </a:rPr>
              <a:t>01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4"/>
                </a:solidFill>
              </a:rPr>
              <a:t>시장·사업성 검토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bg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지난해 건설 현장에서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286명</a:t>
            </a:r>
            <a:pPr eaLnBrk="0" algn="l" indent="0" marL="0">
              <a:buNone/>
            </a:pPr>
            <a:r>
              <a:rPr lang="ko-KR" sz="2800" dirty="0">
                <a:solidFill>
                  <a:schemeClr val="bg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일하다 숨졌습니다</a:t>
            </a:r>
            <a:endParaRPr lang="ko-KR" sz="28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1417320" y="1554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20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2025년 산업현장 사고사망자 605명 중 47%가 건설업에서 나왔습니다.</a:t>
            </a:r>
            <a:endParaRPr lang="ko-KR" sz="1250" dirty="0"/>
          </a:p>
          <a:p>
            <a:pPr eaLnBrk="0" algn="l" indent="0" marL="0">
              <a:lnSpc>
                <a:spcPct val="120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날아오거나 떨어진 물체에 맞은 사고(물체에 맞음)는 사망 원인 2위입니다.</a:t>
            </a:r>
            <a:endParaRPr lang="ko-KR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건설업 사고사망</a:t>
            </a:r>
            <a:endParaRPr lang="ko-KR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3"/>
                </a:solidFill>
              </a:rPr>
              <a:t>: 전 산업의 절반 가까이</a:t>
            </a:r>
            <a:endParaRPr lang="ko-KR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31089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6000" b="1" dirty="0">
                <a:solidFill>
                  <a:schemeClr val="tx1"/>
                </a:solidFill>
              </a:rPr>
              <a:t>286</a:t>
            </a:r>
            <a:pPr eaLnBrk="0" indent="0" marL="0">
              <a:buNone/>
            </a:pPr>
            <a:r>
              <a:rPr lang="ko-KR" sz="2400" b="1" dirty="0">
                <a:solidFill>
                  <a:schemeClr val="tx1"/>
                </a:solidFill>
              </a:rPr>
              <a:t>명</a:t>
            </a:r>
            <a:endParaRPr 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3"/>
                </a:solidFill>
              </a:rPr>
              <a:t>2025년 건설업 재해조사 대상 사고사망자</a:t>
            </a:r>
            <a:endParaRPr lang="ko-KR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5074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tx1"/>
                </a:solidFill>
              </a:rPr>
              <a:t>전년 대비 +3.6% · 전 산업 605명 중 47%</a:t>
            </a:r>
            <a:endParaRPr lang="ko-KR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사고사망 발생 형태</a:t>
            </a:r>
            <a:endParaRPr lang="ko-KR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30723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3"/>
                </a:solidFill>
              </a:rPr>
              <a:t>: 물체에 맞음 72명, 떨어짐 다음으로 많습니다</a:t>
            </a:r>
            <a:endParaRPr lang="ko-KR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3474720"/>
            <a:ext cx="42062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15" name="Chart 0" descr=""/>
          <p:cNvGraphicFramePr/>
          <p:nvPr/>
        </p:nvGraphicFramePr>
        <p:xfrm>
          <a:off x="4389120" y="3611880"/>
          <a:ext cx="39319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8641080" y="4754880"/>
            <a:ext cx="36576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44000" y="3520440"/>
            <a:ext cx="2221992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0" y="352044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bg1"/>
                </a:solidFill>
              </a:rPr>
              <a:t>KEY IMPLICATIONS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9144000" y="3977640"/>
            <a:ext cx="222199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35440" y="411480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250" b="1" dirty="0">
                <a:solidFill>
                  <a:schemeClr val="tx1"/>
                </a:solidFill>
              </a:rPr>
              <a:t>물체에 맞음 72명</a:t>
            </a:r>
            <a:endParaRPr lang="ko-KR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44348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사망 원인 2위 (전 산업)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9144000" y="5001768"/>
            <a:ext cx="222199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51389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250" b="1" dirty="0">
                <a:solidFill>
                  <a:schemeClr val="tx1"/>
                </a:solidFill>
              </a:rPr>
              <a:t>낙하물 전담 솔루션 부재</a:t>
            </a:r>
            <a:endParaRPr lang="ko-KR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545896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기존 AI CCTV는 안전모·침입 위주</a:t>
            </a:r>
            <a:endParaRPr lang="ko-KR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6199632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출처: 고용노동부 「2025년 재해조사 대상 사망사고 발생 현황」(2026. 3.), 연합뉴스 2026. 3. 31. 보도 재인용</a:t>
            </a:r>
            <a:endParaRPr lang="ko-KR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</a:t>
            </a:fld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01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시장·사업성 검토 · 현장의 한계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30m에서 떨어진 공구는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2.47초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 만에 바닥에 닿습니다</a:t>
            </a:r>
            <a:endParaRPr lang="ko-KR" sz="2800" dirty="0"/>
          </a:p>
        </p:txBody>
      </p:sp>
      <p:pic>
        <p:nvPicPr>
          <p:cNvPr id="5" name="Image 0" descr="/Users/leeseungbo/Desktop/창업/신한스퀘어브릿지 지원사업/pitch/deck/assets/fall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566160" cy="39620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12744" y="2698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accent5"/>
                </a:solidFill>
              </a:rPr>
              <a:t>1.0초</a:t>
            </a:r>
            <a:endParaRPr lang="ko-KR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2924353" y="326769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accent5"/>
                </a:solidFill>
              </a:rPr>
              <a:t>1.5초</a:t>
            </a:r>
            <a:endParaRPr lang="ko-KR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935960" y="406519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accent5"/>
                </a:solidFill>
              </a:rPr>
              <a:t>2.0초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946870" y="502257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accent1"/>
                </a:solidFill>
              </a:rPr>
              <a:t>2.47초 · 바닥</a:t>
            </a:r>
            <a:endParaRPr lang="ko-KR" sz="1150" dirty="0"/>
          </a:p>
        </p:txBody>
      </p:sp>
      <p:sp>
        <p:nvSpPr>
          <p:cNvPr id="10" name="Shape 7"/>
          <p:cNvSpPr/>
          <p:nvPr/>
        </p:nvSpPr>
        <p:spPr>
          <a:xfrm>
            <a:off x="4937760" y="192024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9019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보고 피하기엔 짧습니다</a:t>
            </a:r>
            <a:endParaRPr lang="ko-K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30428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300" dirty="0">
                <a:solidFill>
                  <a:schemeClr val="accent3"/>
                </a:solidFill>
              </a:rPr>
              <a:t>경보를 듣고 판단해 1~2m 피하는 데 1.5~2.5초가 걸립니다. 17m보다 낮은 곳에서 떨어지면 경보만으로는 막을 수 없습니다.</a:t>
            </a:r>
            <a:endParaRPr lang="ko-KR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3182112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31638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누가 아래에 있는지 모릅니다</a:t>
            </a:r>
            <a:endParaRPr lang="ko-K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35661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300" dirty="0">
                <a:solidFill>
                  <a:schemeClr val="accent3"/>
                </a:solidFill>
              </a:rPr>
              <a:t>인양 중 하부 출입 통제는 신호수 한 사람의 눈에 달려 있습니다. 크레인이 움직이면 위험한 자리도 같이 바뀝니다.</a:t>
            </a:r>
            <a:endParaRPr lang="ko-KR" sz="1300" dirty="0"/>
          </a:p>
        </p:txBody>
      </p:sp>
      <p:sp>
        <p:nvSpPr>
          <p:cNvPr id="18" name="Shape 15"/>
          <p:cNvSpPr/>
          <p:nvPr/>
        </p:nvSpPr>
        <p:spPr>
          <a:xfrm>
            <a:off x="4937760" y="444398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44256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다치지 않으면 기록이 없습니다</a:t>
            </a:r>
            <a:endParaRPr lang="ko-K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482803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300" dirty="0">
                <a:solidFill>
                  <a:schemeClr val="accent3"/>
                </a:solidFill>
              </a:rPr>
              <a:t>사람이 맞지 않은 낙하는 보고되지 않습니다. 어느 현장이 위험한지 미리 가려낼 데이터가 쌓이지 않습니다.</a:t>
            </a:r>
            <a:endParaRPr lang="ko-KR" sz="1300" dirty="0"/>
          </a:p>
        </p:txBody>
      </p:sp>
      <p:sp>
        <p:nvSpPr>
          <p:cNvPr id="22" name="Shape 19"/>
          <p:cNvSpPr/>
          <p:nvPr/>
        </p:nvSpPr>
        <p:spPr>
          <a:xfrm>
            <a:off x="4937760" y="565099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37760" y="5650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bg1"/>
                </a:solidFill>
              </a:rPr>
              <a:t>POINT</a:t>
            </a:r>
            <a:endParaRPr lang="ko-KR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897880" y="5650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경보보다 먼저, 떨어질 물건 아래에 사람이 없게 해야 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</a:t>
            </a:fld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bg1"/>
                </a:solidFill>
              </a:rPr>
              <a:t>01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4"/>
                </a:solidFill>
              </a:rPr>
              <a:t>시장·사업성 검토 · 시장 규모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bg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국내 스마트 안전장비 예산 한도는 연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7,430억 원</a:t>
            </a:r>
            <a:pPr eaLnBrk="0" algn="l" indent="0" marL="0">
              <a:buNone/>
            </a:pPr>
            <a:r>
              <a:rPr lang="ko-KR" sz="2800" dirty="0">
                <a:solidFill>
                  <a:schemeClr val="bg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입니다</a:t>
            </a:r>
            <a:endParaRPr lang="ko-KR" sz="28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1417320" y="1554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20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건설사는 산업안전보건관리비의 20%까지 스마트 안전장비에 쓸 수 있습니다.</a:t>
            </a:r>
            <a:endParaRPr lang="ko-KR" sz="1250" dirty="0"/>
          </a:p>
          <a:p>
            <a:pPr eaLnBrk="0" algn="l" indent="0" marL="0">
              <a:lnSpc>
                <a:spcPct val="120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해외 건설현장 안전 모니터링 시장은 2025년 3.7조 원에서 2030년 6.4조 원으로 커질 전망입니다.</a:t>
            </a:r>
            <a:endParaRPr lang="ko-KR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국내 시장</a:t>
            </a:r>
            <a:endParaRPr lang="ko-KR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3"/>
                </a:solidFill>
              </a:rPr>
              <a:t>: TAM · SAM · SOM</a:t>
            </a:r>
            <a:endParaRPr lang="ko-KR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39319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" y="3566160"/>
            <a:ext cx="2240280" cy="224028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4343400"/>
            <a:ext cx="1463040" cy="146304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5166360"/>
            <a:ext cx="640080" cy="6400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0200" y="3675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900" b="1" dirty="0">
                <a:solidFill>
                  <a:schemeClr val="accent2"/>
                </a:solidFill>
              </a:rPr>
              <a:t>TAM</a:t>
            </a:r>
            <a:endParaRPr lang="ko-KR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900" b="1" dirty="0">
                <a:solidFill>
                  <a:schemeClr val="accent3"/>
                </a:solidFill>
              </a:rPr>
              <a:t>SAM</a:t>
            </a:r>
            <a:endParaRPr lang="ko-KR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394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850" b="1" dirty="0">
                <a:solidFill>
                  <a:schemeClr val="bg1"/>
                </a:solidFill>
              </a:rPr>
              <a:t>SOM</a:t>
            </a:r>
            <a:endParaRPr lang="ko-KR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657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3.7조 원</a:t>
            </a:r>
            <a:endParaRPr lang="ko-KR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3950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글로벌 건설현장 안전 모니터링 (2025)</a:t>
            </a:r>
            <a:endParaRPr lang="ko-KR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7,430억 원</a:t>
            </a:r>
            <a:endParaRPr lang="ko-KR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4663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국내 산안비 중 스마트 장비 한도 (연)</a:t>
            </a:r>
            <a:endParaRPr lang="ko-KR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5084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accent1"/>
                </a:solidFill>
              </a:rPr>
              <a:t>60억 원</a:t>
            </a:r>
            <a:endParaRPr lang="ko-KR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5376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5년 차 목표 · 200개 현장 × 월 250만 원</a:t>
            </a:r>
            <a:endParaRPr lang="ko-KR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글로벌 시장</a:t>
            </a:r>
            <a:endParaRPr lang="ko-KR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3"/>
                </a:solidFill>
              </a:rPr>
              <a:t>: 단위 조 원, 2024~25년 → 2030년</a:t>
            </a:r>
            <a:endParaRPr lang="ko-KR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3474720"/>
            <a:ext cx="36576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24" name="Chart 0" descr=""/>
          <p:cNvGraphicFramePr/>
          <p:nvPr/>
        </p:nvGraphicFramePr>
        <p:xfrm>
          <a:off x="5120640" y="3566160"/>
          <a:ext cx="3474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851392" y="4754880"/>
            <a:ext cx="24688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17152" y="3520440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17152" y="3520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bg1"/>
                </a:solidFill>
              </a:rPr>
              <a:t>KEY IMPLICATIONS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217152" y="3931920"/>
            <a:ext cx="214884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81160" y="39867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단가는 산안비 한도 안</a:t>
            </a:r>
            <a:endParaRPr lang="ko-KR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281160" y="42336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300억 원 현장 한도 월 약 330만 원</a:t>
            </a:r>
            <a:endParaRPr lang="ko-KR" sz="900" dirty="0"/>
          </a:p>
        </p:txBody>
      </p:sp>
      <p:sp>
        <p:nvSpPr>
          <p:cNvPr id="31" name="Shape 28"/>
          <p:cNvSpPr/>
          <p:nvPr/>
        </p:nvSpPr>
        <p:spPr>
          <a:xfrm>
            <a:off x="9217152" y="4617720"/>
            <a:ext cx="214884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81160" y="4672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싱가포르 영상감시 의무화</a:t>
            </a:r>
            <a:endParaRPr lang="ko-KR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281160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S$500만 이상 현장 · 2024. 6.</a:t>
            </a:r>
            <a:endParaRPr lang="ko-KR" sz="900" dirty="0"/>
          </a:p>
        </p:txBody>
      </p:sp>
      <p:sp>
        <p:nvSpPr>
          <p:cNvPr id="34" name="Shape 31"/>
          <p:cNvSpPr/>
          <p:nvPr/>
        </p:nvSpPr>
        <p:spPr>
          <a:xfrm>
            <a:off x="9217152" y="5303520"/>
            <a:ext cx="2148840" cy="6035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81160" y="5358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미국 struck-by 사망 2위</a:t>
            </a:r>
            <a:endParaRPr lang="ko-KR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281160" y="56052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900" dirty="0">
                <a:solidFill>
                  <a:schemeClr val="accent3"/>
                </a:solidFill>
              </a:rPr>
              <a:t>건설 4대 위험 · 2023년 154명</a:t>
            </a:r>
            <a:endParaRPr lang="ko-KR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6199632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출처: 건설산업연구원(2026. 4.), 고용노동부고시 제2024-53호·제2025-11호, Research and Markets·Mordor Intelligence(2025), MOM, CPWR · SAM = 건설수주 221.1조 × 70% × 요율 2.4% × 20%</a:t>
            </a:r>
            <a:endParaRPr lang="ko-KR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4</a:t>
            </a:fld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02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규제·제도 요건 분석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법과 예산이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안전장비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 도입을 밀어주고 있습니다</a:t>
            </a:r>
            <a:endParaRPr lang="ko-KR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430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3886200"/>
                <a:gridCol w="2907792"/>
              </a:tblGrid>
              <a:tr h="4114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근거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핵심 내용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DropZero 대응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기회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건설업 산업안전보건관리비</a:t>
                      </a:r>
                      <a:endParaRPr lang="ko-KR" sz="1100" dirty="0"/>
                    </a:p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계상·사용기준 (고시 제2024-53호 등)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스마트 안전장비 구입·임대비 2026년부터 100% 인정, 사용한도 산안비의 20%. 요율 평균 19% 인상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구독·렌탈 비용을 산안비로 처리하는 가격 구조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기회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건설기술 진흥법 시행규칙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16층 이상 공동주택 공사장 CCTV 설치 의무 (2020. 12.~)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기존 CCTV에 분석을 얹어 도입비 절감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기회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중대재해 처벌 등에 관한 법률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2024년부터 5인 이상 사업장 전면 적용, 안전보건관리체계 구축·이행 의무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이벤트·조치 기록으로 이행 증빙 자동 생성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준수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항공안전법 (드론)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관제권·비행금지구역 비행승인, 야간·가시권 밖 비행은 특별비행승인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작업자 없는 시간대 정기 순찰, 승인 절차를 운영 매뉴얼에 포함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준수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개인정보 보호법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영상정보처리기기 설치 목적·장소 고지, 목적 외 이용 제한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얼굴 비식별화, 보존기간 제한, 촬영 고지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준수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전파법 (KC 적합성평가)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무선 기기 적합성평가 필요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초기엔 KC 인증 기성 모듈, 자체 하드웨어는 2단계에서 인증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852160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852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bg1"/>
                </a:solidFill>
              </a:rPr>
              <a:t>POINT</a:t>
            </a:r>
            <a:endParaRPr lang="ko-KR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50" b="1" dirty="0">
                <a:solidFill>
                  <a:schemeClr val="tx1"/>
                </a:solidFill>
              </a:rPr>
              <a:t>기회 요인 세 가지는 가격과 영업 근거로, 준수 요인 세 가지는 운영 수칙으로 반영했습니다.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5</a:t>
            </a:fld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제품·기술 실행방안 · 솔루션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떨어질 물건 아래에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서 있지 않게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 합니다</a:t>
            </a:r>
            <a:endParaRPr lang="ko-KR" sz="2800" dirty="0"/>
          </a:p>
        </p:txBody>
      </p:sp>
      <p:pic>
        <p:nvPicPr>
          <p:cNvPr id="5" name="Image 0" descr="/Users/leeseungbo/Desktop/창업/신한스퀘어브릿지 지원사업/pitch/deck/assets/solution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6949440" cy="3909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56157" y="4743577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56157" y="47435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8" name="Shape 5"/>
          <p:cNvSpPr/>
          <p:nvPr/>
        </p:nvSpPr>
        <p:spPr>
          <a:xfrm>
            <a:off x="3736429" y="3128635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36429" y="31286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0" name="Shape 7"/>
          <p:cNvSpPr/>
          <p:nvPr/>
        </p:nvSpPr>
        <p:spPr>
          <a:xfrm>
            <a:off x="2814127" y="1712243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14127" y="17122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182880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예방  </a:t>
            </a:r>
            <a:pPr eaLnBrk="0" indent="0" marL="0">
              <a:buNone/>
            </a:pPr>
            <a:r>
              <a:rPr lang="ko-KR" sz="1100" dirty="0">
                <a:solidFill>
                  <a:schemeClr val="accent2"/>
                </a:solidFill>
              </a:rPr>
              <a:t>Dynamic Zone</a:t>
            </a:r>
            <a:endParaRPr lang="ko-KR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212848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인양물 아래 위험구역이 크레인을 따라 움직이고, 사람이 들어오면 바로 경보가 울립니다.</a:t>
            </a:r>
            <a:endParaRPr lang="ko-KR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312724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대응  </a:t>
            </a:r>
            <a:pPr eaLnBrk="0" indent="0" marL="0">
              <a:buNone/>
            </a:pPr>
            <a:r>
              <a:rPr lang="ko-KR" sz="1100" dirty="0">
                <a:solidFill>
                  <a:schemeClr val="accent2"/>
                </a:solidFill>
              </a:rPr>
              <a:t>Fall Detection</a:t>
            </a:r>
            <a:endParaRPr lang="ko-KR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549640" y="351129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물체가 떨어지는 순간을 감지해 0.35초 안에 착지 예상 지점 주변에 대피 경보를 보냅니다.</a:t>
            </a:r>
            <a:endParaRPr lang="ko-KR" sz="1200" dirty="0"/>
          </a:p>
        </p:txBody>
      </p:sp>
      <p:sp>
        <p:nvSpPr>
          <p:cNvPr id="20" name="Shape 17"/>
          <p:cNvSpPr/>
          <p:nvPr/>
        </p:nvSpPr>
        <p:spPr>
          <a:xfrm>
            <a:off x="8092440" y="442569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49640" y="4407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tx1"/>
                </a:solidFill>
              </a:rPr>
              <a:t>학습  </a:t>
            </a:r>
            <a:pPr eaLnBrk="0" indent="0" marL="0">
              <a:buNone/>
            </a:pPr>
            <a:r>
              <a:rPr lang="ko-KR" sz="1100" dirty="0">
                <a:solidFill>
                  <a:schemeClr val="accent2"/>
                </a:solidFill>
              </a:rPr>
              <a:t>Near-miss Data</a:t>
            </a:r>
            <a:endParaRPr lang="ko-KR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549640" y="4809744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드론 순찰 결과와 모든 낙하 기록을 쌓아 위험한 현장과 시간대를 미리 가려냅니다.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6</a:t>
            </a:fld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1417320" y="393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핵심 기능 ① 예방</a:t>
            </a:r>
            <a:endParaRPr lang="ko-KR" sz="1200" dirty="0"/>
          </a:p>
        </p:txBody>
      </p:sp>
      <p:sp>
        <p:nvSpPr>
          <p:cNvPr id="4" name="Text 5"/>
          <p:cNvSpPr/>
          <p:nvPr>
            <p:ph idx="107" type="title" hasCustomPrompt="1"/>
          </p:nvPr>
        </p:nvSpPr>
        <p:spPr>
          <a:xfrm>
            <a:off x="502920" y="10972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buNone/>
            </a:pPr>
            <a:r>
              <a:rPr lang="ko-KR" sz="32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buNone/>
            </a:pPr>
            <a:r>
              <a:rPr lang="ko-KR" sz="32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위험구역</a:t>
            </a:r>
            <a:endParaRPr lang="ko-KR" sz="32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530352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2"/>
                </a:solidFill>
              </a:rPr>
              <a:t>Dynamic Exclusion Zone</a:t>
            </a:r>
            <a:endParaRPr lang="ko-KR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324612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27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</a:rPr>
              <a:t>인양물 위치 계산</a:t>
            </a:r>
            <a:endParaRPr lang="ko-KR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100" dirty="0">
                <a:solidFill>
                  <a:schemeClr val="accent3"/>
                </a:solidFill>
              </a:rPr>
              <a:t>후크 카메라와 선회각·반경 데이터로 매달린 자재 위치를 잡습니다.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4233672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153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</a:rPr>
              <a:t>위험구역 생성</a:t>
            </a:r>
            <a:endParaRPr lang="ko-K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5262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100" dirty="0">
                <a:solidFill>
                  <a:schemeClr val="accent3"/>
                </a:solidFill>
              </a:rPr>
              <a:t>떨어질 수 있는 바닥 범위에 안전 여유를 더하고, 크레인이 움직일 때마다 다시 그립니다.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5221224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2029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</a:rPr>
              <a:t>진입 즉시 경보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5138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100" dirty="0">
                <a:solidFill>
                  <a:schemeClr val="accent3"/>
                </a:solidFill>
              </a:rPr>
              <a:t>경광등, 안전모 진동, 신호수 단말이 동시에 울립니다.</a:t>
            </a:r>
            <a:endParaRPr lang="ko-KR" sz="1100" dirty="0"/>
          </a:p>
        </p:txBody>
      </p:sp>
      <p:pic>
        <p:nvPicPr>
          <p:cNvPr id="18" name="Image 0" descr="/Users/leeseungbo/Desktop/창업/신한스퀘어브릿지 지원사업/pitch/deck/assets/zon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051560"/>
            <a:ext cx="5715000" cy="4572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650992" y="583387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50992" y="5833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bg1"/>
                </a:solidFill>
              </a:rPr>
              <a:t>POINT</a:t>
            </a:r>
            <a:endParaRPr lang="ko-KR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611112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높이와 상관없이 작동해, 경보로 피할 시간이 없는 저층 인양도 막습니다.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7</a:t>
            </a:fld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핵심 기능 ② 대응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떨어지는 순간을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0.35초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 안에 잡아 경보를 울립니다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accent3"/>
                </a:solidFill>
              </a:rPr>
              <a:t>30m 높이에서 떨어진 물체가 바닥에 닿기까지 2.47초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14939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6912" y="2212848"/>
            <a:ext cx="9049080" cy="548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50" b="1" dirty="0">
                <a:solidFill>
                  <a:schemeClr val="bg1"/>
                </a:solidFill>
              </a:rPr>
              <a:t>감지 · 경보  0.35초</a:t>
            </a:r>
            <a:endParaRPr lang="ko-KR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45512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bg1"/>
                </a:solidFill>
              </a:rPr>
              <a:t>대피할 수 있는 시간  약 2.1초</a:t>
            </a:r>
            <a:endParaRPr lang="ko-KR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0초</a:t>
            </a:r>
            <a:endParaRPr lang="ko-KR" sz="1000" dirty="0"/>
          </a:p>
        </p:txBody>
      </p:sp>
      <p:sp>
        <p:nvSpPr>
          <p:cNvPr id="12" name="Shape 10"/>
          <p:cNvSpPr/>
          <p:nvPr/>
        </p:nvSpPr>
        <p:spPr>
          <a:xfrm>
            <a:off x="2957177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91417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0.5초</a:t>
            </a:r>
            <a:endParaRPr lang="ko-KR" sz="1000" dirty="0"/>
          </a:p>
        </p:txBody>
      </p:sp>
      <p:sp>
        <p:nvSpPr>
          <p:cNvPr id="14" name="Shape 12"/>
          <p:cNvSpPr/>
          <p:nvPr/>
        </p:nvSpPr>
        <p:spPr>
          <a:xfrm>
            <a:off x="5091394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5634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1초</a:t>
            </a:r>
            <a:endParaRPr lang="ko-KR" sz="1000" dirty="0"/>
          </a:p>
        </p:txBody>
      </p:sp>
      <p:sp>
        <p:nvSpPr>
          <p:cNvPr id="16" name="Shape 14"/>
          <p:cNvSpPr/>
          <p:nvPr/>
        </p:nvSpPr>
        <p:spPr>
          <a:xfrm>
            <a:off x="7225611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9851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1.5초</a:t>
            </a:r>
            <a:endParaRPr 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9359828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94068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2초</a:t>
            </a:r>
            <a:endParaRPr lang="ko-KR" sz="1000" dirty="0"/>
          </a:p>
        </p:txBody>
      </p:sp>
      <p:sp>
        <p:nvSpPr>
          <p:cNvPr id="20" name="Shape 18"/>
          <p:cNvSpPr/>
          <p:nvPr/>
        </p:nvSpPr>
        <p:spPr>
          <a:xfrm>
            <a:off x="11365992" y="2788920"/>
            <a:ext cx="0" cy="9144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000232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2"/>
                </a:solidFill>
              </a:rPr>
              <a:t>2.47초</a:t>
            </a:r>
            <a:endParaRPr lang="ko-KR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1787652" cy="548640"/>
          </a:xfrm>
          <a:prstGeom prst="homePlat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움직임 후보</a:t>
            </a:r>
            <a:endParaRPr lang="ko-KR" sz="1200" dirty="0"/>
          </a:p>
        </p:txBody>
      </p:sp>
      <p:sp>
        <p:nvSpPr>
          <p:cNvPr id="24" name="Shape 22"/>
          <p:cNvSpPr/>
          <p:nvPr/>
        </p:nvSpPr>
        <p:spPr>
          <a:xfrm>
            <a:off x="2574036" y="3520440"/>
            <a:ext cx="1787652" cy="548640"/>
          </a:xfrm>
          <a:prstGeom prst="chevr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5204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소형 객체 검출</a:t>
            </a:r>
            <a:endParaRPr lang="ko-KR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520440"/>
            <a:ext cx="1787652" cy="548640"/>
          </a:xfrm>
          <a:prstGeom prst="chevr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궤적 추적</a:t>
            </a:r>
            <a:endParaRPr lang="ko-KR" sz="1200" dirty="0"/>
          </a:p>
        </p:txBody>
      </p:sp>
      <p:sp>
        <p:nvSpPr>
          <p:cNvPr id="28" name="Shape 26"/>
          <p:cNvSpPr/>
          <p:nvPr/>
        </p:nvSpPr>
        <p:spPr>
          <a:xfrm>
            <a:off x="6076188" y="3520440"/>
            <a:ext cx="1787652" cy="548640"/>
          </a:xfrm>
          <a:prstGeom prst="chevron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7356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중력 궤적 검증</a:t>
            </a:r>
            <a:endParaRPr lang="ko-KR" sz="1200" dirty="0"/>
          </a:p>
        </p:txBody>
      </p:sp>
      <p:sp>
        <p:nvSpPr>
          <p:cNvPr id="30" name="Shape 28"/>
          <p:cNvSpPr/>
          <p:nvPr/>
        </p:nvSpPr>
        <p:spPr>
          <a:xfrm>
            <a:off x="7827264" y="3520440"/>
            <a:ext cx="1787652" cy="548640"/>
          </a:xfrm>
          <a:prstGeom prst="chevr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8432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착지점 예측</a:t>
            </a:r>
            <a:endParaRPr lang="ko-KR" sz="1200" dirty="0"/>
          </a:p>
        </p:txBody>
      </p:sp>
      <p:sp>
        <p:nvSpPr>
          <p:cNvPr id="32" name="Shape 30"/>
          <p:cNvSpPr/>
          <p:nvPr/>
        </p:nvSpPr>
        <p:spPr>
          <a:xfrm>
            <a:off x="9578340" y="3520440"/>
            <a:ext cx="1787652" cy="548640"/>
          </a:xfrm>
          <a:prstGeom prst="chevr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79508" y="3520440"/>
            <a:ext cx="1376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경보</a:t>
            </a:r>
            <a:endParaRPr lang="ko-KR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443484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466344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728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508760" y="46451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오경보 거르기</a:t>
            </a:r>
            <a:endParaRPr lang="ko-KR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508760" y="50292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움직임이 중력가속도(9.8m/s²)에 맞게 빨라지는지 확인합니다. 새, 비닐, 흔들리는 와이어는 여기서 걸러집니다.</a:t>
            </a:r>
            <a:endParaRPr lang="ko-KR" sz="1200" dirty="0"/>
          </a:p>
        </p:txBody>
      </p:sp>
      <p:sp>
        <p:nvSpPr>
          <p:cNvPr id="39" name="Shape 37"/>
          <p:cNvSpPr/>
          <p:nvPr/>
        </p:nvSpPr>
        <p:spPr>
          <a:xfrm>
            <a:off x="6245352" y="443484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9672" y="466344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96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31152" y="46451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현장에서 바로 판단</a:t>
            </a:r>
            <a:endParaRPr lang="ko-KR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50292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엣지 박스가 직접 경광등을 울립니다. 현장 통신이 끊겨도 경보는 나갑니다.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8</a:t>
            </a:fld>
            <a:endParaRPr 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1417320" y="393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핵심 기능 ③ 학습</a:t>
            </a:r>
            <a:endParaRPr lang="ko-KR" sz="1200" dirty="0"/>
          </a:p>
        </p:txBody>
      </p:sp>
      <p:sp>
        <p:nvSpPr>
          <p:cNvPr id="4" name="Text 5"/>
          <p:cNvSpPr/>
          <p:nvPr>
            <p:ph idx="107" type="title" hasCustomPrompt="1"/>
          </p:nvPr>
        </p:nvSpPr>
        <p:spPr>
          <a:xfrm>
            <a:off x="502920" y="10972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buNone/>
            </a:pPr>
            <a:r>
              <a:rPr lang="ko-KR" sz="32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다치지 않은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buNone/>
            </a:pPr>
            <a:r>
              <a:rPr lang="ko-KR" sz="32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낙하까지 기록</a:t>
            </a:r>
            <a:endParaRPr lang="ko-KR" sz="32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530352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2"/>
                </a:solidFill>
              </a:rPr>
              <a:t>Near-miss Data · Drone Patrol</a:t>
            </a:r>
            <a:endParaRPr lang="ko-KR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50" b="1" dirty="0">
                <a:solidFill>
                  <a:schemeClr val="tx1"/>
                </a:solidFill>
              </a:rPr>
              <a:t>작업 전 · 점심 · 작업 종료 후 드론 순찰</a:t>
            </a:r>
            <a:endParaRPr lang="ko-KR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35204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100" dirty="0">
                <a:solidFill>
                  <a:schemeClr val="accent3"/>
                </a:solidFill>
              </a:rPr>
              <a:t>단부 자재 적치, 낙하물방지망 파손, 개구부 덮개 누락을 찾아 아침 TBM 전에 알려줍니다.</a:t>
            </a:r>
            <a:endParaRPr lang="ko-KR" sz="1100" dirty="0"/>
          </a:p>
        </p:txBody>
      </p:sp>
      <p:pic>
        <p:nvPicPr>
          <p:cNvPr id="8" name="Image 0" descr="/Users/leeseungbo/Desktop/창업/신한스퀘어브릿지 지원사업/pitch/deck/assets/dron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069080"/>
            <a:ext cx="3931920" cy="24469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143000"/>
            <a:ext cx="6519672" cy="4754880"/>
          </a:xfrm>
          <a:prstGeom prst="roundRect">
            <a:avLst>
              <a:gd name="adj" fmla="val 1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120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현장 안전 리포트</a:t>
            </a:r>
            <a:endParaRPr lang="ko-KR" sz="1500" dirty="0"/>
          </a:p>
        </p:txBody>
      </p:sp>
      <p:sp>
        <p:nvSpPr>
          <p:cNvPr id="11" name="Shape 8"/>
          <p:cNvSpPr/>
          <p:nvPr/>
        </p:nvSpPr>
        <p:spPr>
          <a:xfrm>
            <a:off x="10040112" y="1435608"/>
            <a:ext cx="96012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40112" y="14356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950" b="1" dirty="0">
                <a:solidFill>
                  <a:schemeClr val="accent3"/>
                </a:solidFill>
              </a:rPr>
              <a:t>화면 예시</a:t>
            </a:r>
            <a:endParaRPr lang="ko-KR" sz="950" dirty="0"/>
          </a:p>
        </p:txBody>
      </p:sp>
      <p:sp>
        <p:nvSpPr>
          <p:cNvPr id="13" name="Shape 10"/>
          <p:cNvSpPr/>
          <p:nvPr/>
        </p:nvSpPr>
        <p:spPr>
          <a:xfrm>
            <a:off x="5212080" y="19202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13248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12</a:t>
            </a:r>
            <a:endParaRPr lang="ko-KR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541324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오늘 이벤트</a:t>
            </a:r>
            <a:endParaRPr lang="ko-KR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19202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79208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accent1"/>
                </a:solidFill>
              </a:rPr>
              <a:t>3</a:t>
            </a:r>
            <a:endParaRPr lang="ko-KR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37920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아차사고</a:t>
            </a:r>
            <a:endParaRPr lang="ko-KR" sz="1050" dirty="0"/>
          </a:p>
        </p:txBody>
      </p:sp>
      <p:sp>
        <p:nvSpPr>
          <p:cNvPr id="19" name="Shape 16"/>
          <p:cNvSpPr/>
          <p:nvPr/>
        </p:nvSpPr>
        <p:spPr>
          <a:xfrm>
            <a:off x="9144000" y="192024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45168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100%</a:t>
            </a:r>
            <a:endParaRPr lang="ko-KR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34516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조치 완료</a:t>
            </a:r>
            <a:endParaRPr lang="ko-KR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246120"/>
          <a:ext cx="57881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11880"/>
                <a:gridCol w="1261872"/>
              </a:tblGrid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</a:rPr>
                        <a:t>시각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</a:rPr>
                        <a:t>이벤트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14:02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낙하 감지 · 12층 동측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아차사고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10:15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위험구역 진입 · 크레인 1호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경보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07:12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드론 순찰 · 9층 방지망 파손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조치 완료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212080" y="5239512"/>
            <a:ext cx="57881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94960" y="5239512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150" dirty="0">
                <a:solidFill>
                  <a:schemeClr val="accent5"/>
                </a:solidFill>
              </a:rPr>
              <a:t>위험성평가 개선 이력 · 점검일지 자동 생성  →  중대재해처벌법 대응 증빙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9</a:t>
            </a:fld>
            <a:endParaRPr 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기술 구현 · 학습 데이터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사고 영상이 없어도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를 직접 만듭니다</a:t>
            </a:r>
            <a:endParaRPr lang="ko-KR" sz="2800" dirty="0"/>
          </a:p>
        </p:txBody>
      </p:sp>
      <p:pic>
        <p:nvPicPr>
          <p:cNvPr id="5" name="Image 0" descr="/Users/leeseungbo/Desktop/창업/신한스퀘어브릿지 지원사업/pitch/deck/assets/sim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374136" cy="23366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434340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43342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3D 물리 시뮬레이션</a:t>
            </a:r>
            <a:endParaRPr lang="ko-KR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높이, 물체, 조명, 날씨를 바꿔가며 낙하 장면을 대량으로 만듭니다.</a:t>
            </a:r>
            <a:endParaRPr lang="ko-KR" sz="1200" dirty="0"/>
          </a:p>
        </p:txBody>
      </p:sp>
      <p:sp>
        <p:nvSpPr>
          <p:cNvPr id="10" name="Shape 7"/>
          <p:cNvSpPr/>
          <p:nvPr/>
        </p:nvSpPr>
        <p:spPr>
          <a:xfrm>
            <a:off x="4224528" y="2953512"/>
            <a:ext cx="155448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pic>
        <p:nvPicPr>
          <p:cNvPr id="11" name="Image 1" descr="/Users/leeseungbo/Desktop/창업/신한스퀘어브릿지 지원사업/pitch/deck/assets/cctv-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783080"/>
            <a:ext cx="3374136" cy="233665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07408" y="434340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0740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837176" y="43342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실제 현장 영상에 합성</a:t>
            </a:r>
            <a:endParaRPr lang="ko-KR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37176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현장 CCTV 배경 위에 렌더링한 낙하물을 모션 블러까지 입혀 붙입니다.</a:t>
            </a:r>
            <a:endParaRPr lang="ko-KR" sz="1200" dirty="0"/>
          </a:p>
        </p:txBody>
      </p:sp>
      <p:sp>
        <p:nvSpPr>
          <p:cNvPr id="16" name="Shape 12"/>
          <p:cNvSpPr/>
          <p:nvPr/>
        </p:nvSpPr>
        <p:spPr>
          <a:xfrm>
            <a:off x="7808976" y="2953512"/>
            <a:ext cx="155448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pic>
        <p:nvPicPr>
          <p:cNvPr id="17" name="Image 2" descr="/Users/leeseungbo/Desktop/창업/신한스퀘어브릿지 지원사업/pitch/deck/assets/drop-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1783080"/>
            <a:ext cx="3374136" cy="2336659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991856" y="434340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99185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21624" y="43342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tx1"/>
                </a:solidFill>
              </a:rPr>
              <a:t>실측 낙하 시험으로 검증</a:t>
            </a:r>
            <a:endParaRPr lang="ko-KR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21624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sz="1200" dirty="0">
                <a:solidFill>
                  <a:schemeClr val="accent3"/>
                </a:solidFill>
              </a:rPr>
              <a:t>더미 물체를 떨어뜨린 실제 영상은 평가에만 써서 실력을 확인합니다.</a:t>
            </a:r>
            <a:endParaRPr lang="ko-KR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5669280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" y="5669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bg1"/>
                </a:solidFill>
              </a:rPr>
              <a:t>POINT</a:t>
            </a:r>
            <a:endParaRPr lang="ko-KR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1783080" y="56692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공개 낙하물 영상 데이터셋 FADE(영상 2,611개)로 사전학습하고, 실제 사고 영상의 공백은 합성 데이터로 채웁니다.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</a:t>
            </a:fld>
            <a:endParaRPr 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1417320" y="393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제품 구성</a:t>
            </a:r>
            <a:endParaRPr lang="ko-KR" sz="1200" dirty="0"/>
          </a:p>
        </p:txBody>
      </p:sp>
      <p:sp>
        <p:nvSpPr>
          <p:cNvPr id="4" name="Text 5"/>
          <p:cNvSpPr/>
          <p:nvPr>
            <p:ph idx="107" type="title" hasCustomPrompt="1"/>
          </p:nvPr>
        </p:nvSpPr>
        <p:spPr>
          <a:xfrm>
            <a:off x="502920" y="10972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buNone/>
            </a:pPr>
            <a:r>
              <a:rPr lang="ko-KR" sz="32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바로,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buNone/>
            </a:pPr>
            <a:r>
              <a:rPr lang="ko-KR" sz="32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DropZero KIT</a:t>
            </a:r>
            <a:endParaRPr lang="ko-KR" sz="32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530352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2"/>
                </a:solidFill>
              </a:rPr>
              <a:t>Hardware Kit · 계획 사양</a:t>
            </a:r>
            <a:endParaRPr lang="ko-KR" sz="1200" dirty="0"/>
          </a:p>
        </p:txBody>
      </p:sp>
      <p:pic>
        <p:nvPicPr>
          <p:cNvPr id="6" name="Image 0" descr="/Users/leeseungbo/Desktop/창업/신한스퀘어브릿지 지원사업/pitch/deck/assets/kit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3063240"/>
            <a:ext cx="4114800" cy="30861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188720"/>
          <a:ext cx="656539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4507992"/>
              </a:tblGrid>
              <a:tr h="4114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구성품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주요 사양 · 역할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엣지 AI 박스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Jetson Orin급 · IP66 함체 · LTE 이중화, 클라우드 없이 현장에서 경보 판단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상층부 전용 카메라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60fps, 낙하 감지 구간 전용 (나머지는 기존 CCTV 재활용)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크레인 후크 카메라·센서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인양물 위치 · 선회각 · 반경 수집 → 동적 위험구역 계산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경광등 · 다국어 스피커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구역 경보, 엣지 박스와 유선 · 전용 RF 연결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스마트 안전모 BLE 태그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작업자 위치 확인 · 진동 경보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50" b="1" dirty="0">
                          <a:solidFill>
                            <a:srgbClr val="1B1D21"/>
                          </a:solidFill>
                        </a:rPr>
                        <a:t>점검 드론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4A4F57"/>
                          </a:solidFill>
                        </a:rPr>
                        <a:t>작업 전 · 점심 · 종료 후 정기 순찰, 고소부 위험요소 촬영</a:t>
                      </a:r>
                      <a:endParaRPr lang="ko-KR" sz="115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800600" y="53492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00600" y="5349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#기존CCTV재활용</a:t>
            </a:r>
            <a:endParaRPr lang="ko-KR" sz="1050" dirty="0"/>
          </a:p>
        </p:txBody>
      </p:sp>
      <p:sp>
        <p:nvSpPr>
          <p:cNvPr id="10" name="Shape 6"/>
          <p:cNvSpPr/>
          <p:nvPr/>
        </p:nvSpPr>
        <p:spPr>
          <a:xfrm>
            <a:off x="6400800" y="53492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5349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#엣지단독경보</a:t>
            </a:r>
            <a:endParaRPr lang="ko-KR" sz="1050" dirty="0"/>
          </a:p>
        </p:txBody>
      </p:sp>
      <p:sp>
        <p:nvSpPr>
          <p:cNvPr id="12" name="Shape 8"/>
          <p:cNvSpPr/>
          <p:nvPr/>
        </p:nvSpPr>
        <p:spPr>
          <a:xfrm>
            <a:off x="8001000" y="53492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01000" y="5349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#공사기간렌탈</a:t>
            </a:r>
            <a:endParaRPr lang="ko-KR" sz="1050" dirty="0"/>
          </a:p>
        </p:txBody>
      </p:sp>
      <p:sp>
        <p:nvSpPr>
          <p:cNvPr id="14" name="Shape 10"/>
          <p:cNvSpPr/>
          <p:nvPr/>
        </p:nvSpPr>
        <p:spPr>
          <a:xfrm>
            <a:off x="4800600" y="5852160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00600" y="5852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bg1"/>
                </a:solidFill>
              </a:rPr>
              <a:t>POINT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150" b="1" dirty="0">
                <a:solidFill>
                  <a:schemeClr val="tx1"/>
                </a:solidFill>
              </a:rPr>
              <a:t>센서 구성은 현장마다 달라도, 판단은 엣지 박스 한 곳에서 합니다.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11</a:t>
            </a:fld>
            <a:endParaRPr 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03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시장 경쟁력 및 차별성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기존 AI CCTV가 놓치는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물체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까지 봅니다</a:t>
            </a:r>
            <a:endParaRPr lang="ko-KR" sz="2800" dirty="0"/>
          </a:p>
        </p:txBody>
      </p:sp>
      <p:sp>
        <p:nvSpPr>
          <p:cNvPr id="5" name="Shape 3"/>
          <p:cNvSpPr/>
          <p:nvPr/>
        </p:nvSpPr>
        <p:spPr>
          <a:xfrm>
            <a:off x="1325880" y="3771900"/>
            <a:ext cx="493776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325880" y="3771900"/>
            <a:ext cx="493776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794760" y="1965960"/>
            <a:ext cx="0" cy="361188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1965960"/>
            <a:ext cx="0" cy="361188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880360" y="1673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낙하물 특화</a:t>
            </a:r>
            <a:endParaRPr lang="ko-K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5632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범용 감지</a:t>
            </a:r>
            <a:endParaRPr lang="ko-K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사후</a:t>
            </a:r>
            <a:endParaRPr lang="ko-KR" sz="1050" dirty="0"/>
          </a:p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기록</a:t>
            </a:r>
            <a:endParaRPr lang="ko-K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사전</a:t>
            </a:r>
            <a:endParaRPr lang="ko-KR" sz="1050" dirty="0"/>
          </a:p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예방</a:t>
            </a:r>
            <a:endParaRPr lang="ko-KR" sz="1050" dirty="0"/>
          </a:p>
        </p:txBody>
      </p:sp>
      <p:sp>
        <p:nvSpPr>
          <p:cNvPr id="13" name="Shape 11"/>
          <p:cNvSpPr/>
          <p:nvPr/>
        </p:nvSpPr>
        <p:spPr>
          <a:xfrm>
            <a:off x="1710842" y="4690872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10842" y="46908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3"/>
                </a:solidFill>
              </a:rPr>
              <a:t>현장 CCTV 녹화 · 관제</a:t>
            </a:r>
            <a:endParaRPr lang="ko-KR" sz="1050" dirty="0"/>
          </a:p>
        </p:txBody>
      </p:sp>
      <p:sp>
        <p:nvSpPr>
          <p:cNvPr id="15" name="Shape 13"/>
          <p:cNvSpPr/>
          <p:nvPr/>
        </p:nvSpPr>
        <p:spPr>
          <a:xfrm>
            <a:off x="3602736" y="4112971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411297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3"/>
                </a:solidFill>
              </a:rPr>
              <a:t>범용 AI CCTV</a:t>
            </a:r>
            <a:endParaRPr lang="ko-KR" sz="1050" dirty="0"/>
          </a:p>
        </p:txBody>
      </p:sp>
      <p:sp>
        <p:nvSpPr>
          <p:cNvPr id="17" name="Shape 15"/>
          <p:cNvSpPr/>
          <p:nvPr/>
        </p:nvSpPr>
        <p:spPr>
          <a:xfrm>
            <a:off x="4613148" y="4907585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3148" y="4907585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3"/>
                </a:solidFill>
              </a:rPr>
              <a:t>BLE 접근 경보</a:t>
            </a:r>
            <a:endParaRPr lang="ko-KR" sz="1050" dirty="0"/>
          </a:p>
        </p:txBody>
      </p:sp>
      <p:sp>
        <p:nvSpPr>
          <p:cNvPr id="19" name="Shape 17"/>
          <p:cNvSpPr/>
          <p:nvPr/>
        </p:nvSpPr>
        <p:spPr>
          <a:xfrm>
            <a:off x="4400093" y="2523744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0093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bg1"/>
                </a:solidFill>
              </a:rPr>
              <a:t>DropZero</a:t>
            </a:r>
            <a:endParaRPr lang="ko-KR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22219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01</a:t>
            </a:r>
            <a:endParaRPr lang="ko-KR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2395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250" b="1" dirty="0">
                <a:solidFill>
                  <a:schemeClr val="tx1"/>
                </a:solidFill>
              </a:rPr>
              <a:t>낙하물 사고의 전 과정</a:t>
            </a:r>
            <a:endParaRPr lang="ko-KR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287121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000" dirty="0">
                <a:solidFill>
                  <a:schemeClr val="accent3"/>
                </a:solidFill>
              </a:rPr>
              <a:t>위험요소 점검부터 하부 노출 차단, 낙하 감지, 기록까지 한 시스템이 맡습니다.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828800"/>
            <a:ext cx="22219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9448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02</a:t>
            </a:r>
            <a:endParaRPr lang="ko-KR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2395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250" b="1" dirty="0">
                <a:solidFill>
                  <a:schemeClr val="tx1"/>
                </a:solidFill>
              </a:rPr>
              <a:t>크레인을 따라 움직이는 구역</a:t>
            </a:r>
            <a:endParaRPr lang="ko-KR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287121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000" dirty="0">
                <a:solidFill>
                  <a:schemeClr val="accent3"/>
                </a:solidFill>
              </a:rPr>
              <a:t>출입금지 구역을 고정하지 않고 인양물 위치에 맞춰 계속 다시 그립니다.</a:t>
            </a:r>
            <a:endParaRPr lang="ko-KR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3840480"/>
            <a:ext cx="22219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67728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03</a:t>
            </a:r>
            <a:endParaRPr lang="ko-KR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4407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250" b="1" dirty="0">
                <a:solidFill>
                  <a:schemeClr val="tx1"/>
                </a:solidFill>
              </a:rPr>
              <a:t>물리 기반 판별</a:t>
            </a:r>
            <a:endParaRPr lang="ko-KR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488289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000" dirty="0">
                <a:solidFill>
                  <a:schemeClr val="accent3"/>
                </a:solidFill>
              </a:rPr>
              <a:t>중력 궤적 검증으로 오경보를 줄여, 현장이 경보를 꺼버리지 않게 합니다.</a:t>
            </a:r>
            <a:endParaRPr lang="ko-KR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3840480"/>
            <a:ext cx="22219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99448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04</a:t>
            </a:r>
            <a:endParaRPr lang="ko-KR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4407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250" b="1" dirty="0">
                <a:solidFill>
                  <a:schemeClr val="tx1"/>
                </a:solidFill>
              </a:rPr>
              <a:t>엣지 단독 경보</a:t>
            </a:r>
            <a:endParaRPr lang="ko-KR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299448" y="488289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000" dirty="0">
                <a:solidFill>
                  <a:schemeClr val="accent3"/>
                </a:solidFill>
              </a:rPr>
              <a:t>통신이 끊겨도 현장 엣지 박스가 경보를 울립니다.</a:t>
            </a:r>
            <a:endParaRPr lang="ko-KR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6199632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850" dirty="0">
                <a:solidFill>
                  <a:schemeClr val="accent2"/>
                </a:solidFill>
              </a:rPr>
              <a:t>범용 AI CCTV 예: 카스웍스, 알체라, SAIGE 등 (각사 공개 자료 기준). 위치는 기능 범위를 비교한 개념도입니다.</a:t>
            </a:r>
            <a:endParaRPr lang="ko-KR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12</a:t>
            </a:fld>
            <a:endParaRPr 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04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사업화 전략 · 비즈니스 모델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현장마다 받는 월 구독료는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산안비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에서 나옵니다</a:t>
            </a:r>
            <a:endParaRPr lang="ko-KR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23774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건설사 · 현장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중견 건설사 고층 현장</a:t>
            </a:r>
            <a:endParaRPr lang="ko-KR" sz="1050" dirty="0"/>
          </a:p>
        </p:txBody>
      </p:sp>
      <p:sp>
        <p:nvSpPr>
          <p:cNvPr id="8" name="Shape 6"/>
          <p:cNvSpPr/>
          <p:nvPr/>
        </p:nvSpPr>
        <p:spPr>
          <a:xfrm>
            <a:off x="4910328" y="3017520"/>
            <a:ext cx="237744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488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900" b="1" dirty="0">
                <a:solidFill>
                  <a:schemeClr val="bg1"/>
                </a:solidFill>
              </a:rPr>
              <a:t>DropZero</a:t>
            </a:r>
            <a:endParaRPr lang="ko-KR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047488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4"/>
                </a:solidFill>
              </a:rPr>
              <a:t>팀 GA</a:t>
            </a:r>
            <a:endParaRPr lang="ko-KR" sz="1050" dirty="0"/>
          </a:p>
        </p:txBody>
      </p:sp>
      <p:sp>
        <p:nvSpPr>
          <p:cNvPr id="11" name="Shape 9"/>
          <p:cNvSpPr/>
          <p:nvPr/>
        </p:nvSpPr>
        <p:spPr>
          <a:xfrm>
            <a:off x="8988552" y="3017520"/>
            <a:ext cx="23774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9125712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chemeClr val="tx1"/>
                </a:solidFill>
              </a:rPr>
              <a:t>보험사 · 금융기관</a:t>
            </a:r>
            <a:endParaRPr lang="ko-K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25712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2"/>
                </a:solidFill>
              </a:rPr>
              <a:t>확장 단계</a:t>
            </a:r>
            <a:endParaRPr lang="ko-KR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178308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발주자 · 산업안전보건관리비</a:t>
            </a:r>
            <a:endParaRPr lang="ko-KR" sz="1200" dirty="0"/>
          </a:p>
        </p:txBody>
      </p:sp>
      <p:sp>
        <p:nvSpPr>
          <p:cNvPr id="16" name="Shape 14"/>
          <p:cNvSpPr/>
          <p:nvPr/>
        </p:nvSpPr>
        <p:spPr>
          <a:xfrm>
            <a:off x="4910328" y="178308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488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</a:rPr>
              <a:t>국토부 중소현장 장비 지원</a:t>
            </a:r>
            <a:endParaRPr lang="ko-KR" sz="1200" dirty="0"/>
          </a:p>
        </p:txBody>
      </p:sp>
      <p:sp>
        <p:nvSpPr>
          <p:cNvPr id="18" name="Shape 16"/>
          <p:cNvSpPr/>
          <p:nvPr/>
        </p:nvSpPr>
        <p:spPr>
          <a:xfrm flipH="1">
            <a:off x="3200400" y="3291840"/>
            <a:ext cx="170992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200400" y="2962656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장비 + AI 관제 서비스</a:t>
            </a:r>
            <a:endParaRPr lang="ko-KR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794760"/>
            <a:ext cx="17099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200400" y="385876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1"/>
                </a:solidFill>
              </a:rPr>
              <a:t>현장당 월 구독료</a:t>
            </a:r>
            <a:endParaRPr lang="ko-KR" sz="1050" dirty="0"/>
          </a:p>
        </p:txBody>
      </p:sp>
      <p:sp>
        <p:nvSpPr>
          <p:cNvPr id="22" name="Shape 20"/>
          <p:cNvSpPr/>
          <p:nvPr/>
        </p:nvSpPr>
        <p:spPr>
          <a:xfrm>
            <a:off x="7287768" y="3291840"/>
            <a:ext cx="17007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287768" y="296265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dirty="0">
                <a:solidFill>
                  <a:schemeClr val="accent3"/>
                </a:solidFill>
              </a:rPr>
              <a:t>현장 위험 점수</a:t>
            </a:r>
            <a:endParaRPr lang="ko-KR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7287768" y="3794760"/>
            <a:ext cx="17007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287768" y="385876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1"/>
                </a:solidFill>
              </a:rPr>
              <a:t>데이터 이용료</a:t>
            </a:r>
            <a:endParaRPr lang="ko-KR" sz="1050" dirty="0"/>
          </a:p>
        </p:txBody>
      </p:sp>
      <p:sp>
        <p:nvSpPr>
          <p:cNvPr id="26" name="Shape 24"/>
          <p:cNvSpPr/>
          <p:nvPr/>
        </p:nvSpPr>
        <p:spPr>
          <a:xfrm>
            <a:off x="2011680" y="2468880"/>
            <a:ext cx="0" cy="5486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121408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3"/>
                </a:solidFill>
              </a:rPr>
              <a:t>구입·임대비 100% 인정 (산안비의 20%까지)</a:t>
            </a:r>
            <a:endParaRPr lang="ko-KR" sz="1000" dirty="0"/>
          </a:p>
        </p:txBody>
      </p:sp>
      <p:sp>
        <p:nvSpPr>
          <p:cNvPr id="28" name="Shape 26"/>
          <p:cNvSpPr/>
          <p:nvPr/>
        </p:nvSpPr>
        <p:spPr>
          <a:xfrm>
            <a:off x="6099048" y="2468880"/>
            <a:ext cx="0" cy="5486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208776" y="26151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3"/>
                </a:solidFill>
              </a:rPr>
              <a:t>300억 미만 현장 무상 대여 · 임대 공급사로 참여</a:t>
            </a:r>
            <a:endParaRPr lang="ko-KR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34840"/>
          <a:ext cx="105430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605272"/>
                <a:gridCol w="2743200"/>
              </a:tblGrid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수익원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가격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① 장비 렌탈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엣지 박스 · 전용 카메라 · 경광등을 공사 기간 동안 빌려줍니다.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구독료에 포함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② AI 관제 구독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현장당 월 과금. 공사비 300억 원 현장의 스마트 장비 한도(월 약 330만 원) 안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월 250만 원 내외 (가정)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③ 위험 데이터 (확장)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보험 요율 · PF 리스크 평가에 쓰는 현장 위험 점수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건별 · 연간 계약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13</a:t>
            </a:fld>
            <a:endParaRPr 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2600" b="1" dirty="0">
                <a:solidFill>
                  <a:schemeClr val="tx1"/>
                </a:solidFill>
              </a:rPr>
              <a:t>04</a:t>
            </a:r>
            <a:endParaRPr lang="ko-KR" sz="26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417320" y="393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1200" dirty="0">
                <a:solidFill>
                  <a:schemeClr val="accent3"/>
                </a:solidFill>
              </a:rPr>
              <a:t>사업화 전략 · 개발 및 사업 로드맵</a:t>
            </a:r>
            <a:endParaRPr lang="ko-KR" sz="1200" dirty="0"/>
          </a:p>
        </p:txBody>
      </p:sp>
      <p:sp>
        <p:nvSpPr>
          <p:cNvPr id="4" name="Text 4"/>
          <p:cNvSpPr/>
          <p:nvPr>
            <p:ph idx="106" type="title" hasCustomPrompt="1"/>
          </p:nvPr>
        </p:nvSpPr>
        <p:spPr>
          <a:xfrm>
            <a:off x="14173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내년 파일럿 현장 한 곳에서 </a:t>
            </a:r>
            <a:pPr eaLnBrk="0" algn="l" indent="0" marL="0">
              <a:buNone/>
            </a:pPr>
            <a:r>
              <a:rPr lang="ko-KR" sz="28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오경보율과 지연</a:t>
            </a:r>
            <a:pPr eaLnBrk="0" algn="l" indent="0" marL="0">
              <a:buNone/>
            </a:pPr>
            <a:r>
              <a:rPr lang="ko-KR" sz="2800" dirty="0">
                <a:solidFill>
                  <a:schemeClr val="tx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을 잽니다</a:t>
            </a:r>
            <a:endParaRPr lang="ko-KR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430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67712"/>
                <a:gridCol w="2267712"/>
                <a:gridCol w="2267712"/>
                <a:gridCol w="2276856"/>
              </a:tblGrid>
              <a:tr h="38404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2026. 11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2027 상반기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2027 하반기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2028~</a:t>
                      </a:r>
                      <a:endParaRPr lang="ko-KR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D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단계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PoC 시연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파일럿 현장 1곳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제품화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확장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b="1" dirty="0">
                          <a:solidFill>
                            <a:srgbClr val="1B1D21"/>
                          </a:solidFill>
                        </a:rPr>
                        <a:t>핵심 과제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더미 낙하 → 엣지 감지 → 경광등 점등</a:t>
                      </a:r>
                      <a:endParaRPr lang="ko-KR" sz="1100" dirty="0"/>
                    </a:p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합성 데이터 1차 학습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인양 위험구역 · 낙하 기록 실증</a:t>
                      </a:r>
                      <a:endParaRPr lang="ko-KR" sz="1100" dirty="0"/>
                    </a:p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오경보율 · 종단 지연 실측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스마트 안전장비 지원사업 공급 등록</a:t>
                      </a:r>
                      <a:endParaRPr lang="ko-KR" sz="1100" dirty="0"/>
                    </a:p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하드웨어 KC 인증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대형 건설사 API 공급</a:t>
                      </a:r>
                      <a:endParaRPr lang="ko-KR" sz="1100" dirty="0"/>
                    </a:p>
                    <a:p>
                      <a:pPr eaLnBrk="0" algn="l" indent="0" marL="0">
                        <a:buNone/>
                      </a:pPr>
                      <a:r>
                        <a:rPr lang="ko-KR" sz="1100" dirty="0">
                          <a:solidFill>
                            <a:srgbClr val="4A4F57"/>
                          </a:solidFill>
                        </a:rPr>
                        <a:t>싱가포르 등 해외 · 보험 연계</a:t>
                      </a:r>
                      <a:endParaRPr lang="ko-KR" sz="11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4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37560" y="407822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88336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50" b="1" dirty="0">
                <a:solidFill>
                  <a:schemeClr val="accent1"/>
                </a:solidFill>
              </a:rPr>
              <a:t>PoC</a:t>
            </a:r>
            <a:endParaRPr lang="ko-KR" sz="1150" dirty="0"/>
          </a:p>
        </p:txBody>
      </p:sp>
      <p:sp>
        <p:nvSpPr>
          <p:cNvPr id="9" name="Shape 6"/>
          <p:cNvSpPr/>
          <p:nvPr/>
        </p:nvSpPr>
        <p:spPr>
          <a:xfrm>
            <a:off x="5605272" y="40782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50" b="1" dirty="0">
                <a:solidFill>
                  <a:schemeClr val="tx1"/>
                </a:solidFill>
              </a:rPr>
              <a:t>파일럿</a:t>
            </a:r>
            <a:endParaRPr lang="ko-KR" sz="1150" dirty="0"/>
          </a:p>
        </p:txBody>
      </p:sp>
      <p:sp>
        <p:nvSpPr>
          <p:cNvPr id="11" name="Shape 8"/>
          <p:cNvSpPr/>
          <p:nvPr/>
        </p:nvSpPr>
        <p:spPr>
          <a:xfrm>
            <a:off x="7872984" y="40782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50" b="1" dirty="0">
                <a:solidFill>
                  <a:schemeClr val="tx1"/>
                </a:solidFill>
              </a:rPr>
              <a:t>제품화</a:t>
            </a:r>
            <a:endParaRPr lang="ko-KR" sz="1150" dirty="0"/>
          </a:p>
        </p:txBody>
      </p:sp>
      <p:sp>
        <p:nvSpPr>
          <p:cNvPr id="13" name="Shape 10"/>
          <p:cNvSpPr/>
          <p:nvPr/>
        </p:nvSpPr>
        <p:spPr>
          <a:xfrm>
            <a:off x="10140696" y="40782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91472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150" b="1" dirty="0">
                <a:solidFill>
                  <a:schemeClr val="tx1"/>
                </a:solidFill>
              </a:rPr>
              <a:t>확장</a:t>
            </a:r>
            <a:endParaRPr lang="ko-KR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846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타겟</a:t>
            </a:r>
            <a:endParaRPr lang="ko-KR" sz="1300" dirty="0"/>
          </a:p>
        </p:txBody>
      </p:sp>
      <p:sp>
        <p:nvSpPr>
          <p:cNvPr id="16" name="Shape 13"/>
          <p:cNvSpPr/>
          <p:nvPr/>
        </p:nvSpPr>
        <p:spPr>
          <a:xfrm>
            <a:off x="1508760" y="48463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08760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#중견건설사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3108960" y="48463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08960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#고층공동주택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48463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50" b="1" dirty="0">
                <a:solidFill>
                  <a:schemeClr val="accent5"/>
                </a:solidFill>
              </a:rPr>
              <a:t>#타워크레인현장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5349240"/>
            <a:ext cx="1054303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7280" y="534924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accent1"/>
                </a:solidFill>
              </a:rPr>
              <a:t>파일럿 목표   </a:t>
            </a:r>
            <a:pPr eaLnBrk="0" indent="0" marL="0">
              <a:buNone/>
            </a:pPr>
            <a:r>
              <a:rPr lang="ko-KR" sz="1300" dirty="0">
                <a:solidFill>
                  <a:schemeClr val="tx1"/>
                </a:solidFill>
              </a:rPr>
              <a:t>카메라당 오경보 시간당 0.1건 이하  ·  감지에서 경보까지 0.35초 이내  ·  위험구역 진입 경보 누락 0건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2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14</a:t>
            </a:fld>
            <a:endParaRPr 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4400" b="1" dirty="0">
                <a:solidFill>
                  <a:schemeClr val="bg1"/>
                </a:solidFill>
              </a:rPr>
              <a:t>감사합니다.</a:t>
            </a:r>
            <a:endParaRPr lang="ko-KR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2600" dirty="0">
                <a:solidFill>
                  <a:schemeClr val="accent4"/>
                </a:solidFill>
              </a:rPr>
              <a:t>Q&amp;A</a:t>
            </a:r>
            <a:endParaRPr lang="ko-KR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60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ko-KR" sz="1600" b="1" dirty="0">
                <a:solidFill>
                  <a:schemeClr val="bg1"/>
                </a:solidFill>
              </a:rPr>
              <a:t>팀 GA</a:t>
            </a:r>
            <a:endParaRPr lang="ko-KR" sz="1300" dirty="0"/>
          </a:p>
          <a:p>
            <a:pPr eaLnBrk="0" indent="0" marL="0">
              <a:lnSpc>
                <a:spcPct val="130000"/>
              </a:lnSpc>
              <a:buNone/>
            </a:pPr>
            <a:r>
              <a:rPr lang="ko-KR" sz="1300" dirty="0">
                <a:solidFill>
                  <a:schemeClr val="accent4"/>
                </a:solidFill>
              </a:rPr>
              <a:t>이승보 · 이성재 · 장재홍</a:t>
            </a:r>
            <a:endParaRPr lang="ko-KR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2"/>
                </a:solidFill>
              </a:rPr>
              <a:t>DropZero  ·  건설현장 낙하물 사고, 맞기 전에 막습니다</a:t>
            </a:r>
            <a:endParaRPr lang="ko-KR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280160"/>
            <a:ext cx="3593592" cy="4069080"/>
          </a:xfrm>
          <a:prstGeom prst="roundRect">
            <a:avLst>
              <a:gd name="adj" fmla="val 2036"/>
            </a:avLst>
          </a:prstGeom>
          <a:solidFill>
            <a:srgbClr val="2A2C30"/>
          </a:solidFill>
          <a:ln w="12700">
            <a:solidFill>
              <a:srgbClr val="2A2C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1"/>
                </a:solidFill>
              </a:rPr>
              <a:t>함께하고 싶은 것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8092440" y="21945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24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1671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파일럿 현장 1곳</a:t>
            </a:r>
            <a:endParaRPr lang="ko-KR" sz="12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(고층 건축 · 타워크레인 운용)</a:t>
            </a:r>
            <a:endParaRPr lang="ko-KR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31546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2</a:t>
            </a:r>
            <a:endParaRPr lang="ko-K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1272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실측 낙하 시험 장소</a:t>
            </a:r>
            <a:endParaRPr lang="ko-KR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4114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bg1"/>
                </a:solidFill>
              </a:rPr>
              <a:t>3</a:t>
            </a:r>
            <a:endParaRPr lang="ko-KR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0873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250" dirty="0">
                <a:solidFill>
                  <a:schemeClr val="accent4"/>
                </a:solidFill>
              </a:rPr>
              <a:t>건설 안전 실무 자문</a:t>
            </a:r>
            <a:endParaRPr lang="ko-KR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ropZero">
      <a:dk1>
        <a:srgbClr val="1B1D21"/>
      </a:dk1>
      <a:lt1>
        <a:srgbClr val="FFFFFF"/>
      </a:lt1>
      <a:dk2>
        <a:srgbClr val="2E2F31"/>
      </a:dk2>
      <a:lt2>
        <a:srgbClr val="F2F3F4"/>
      </a:lt2>
      <a:accent1>
        <a:srgbClr val="FF5A1F"/>
      </a:accent1>
      <a:accent2>
        <a:srgbClr val="8A9099"/>
      </a:accent2>
      <a:accent3>
        <a:srgbClr val="4A4F57"/>
      </a:accent3>
      <a:accent4>
        <a:srgbClr val="D2D4D7"/>
      </a:accent4>
      <a:accent5>
        <a:srgbClr val="2B2F35"/>
      </a:accent5>
      <a:accent6>
        <a:srgbClr val="E5E7EA"/>
      </a:accent6>
      <a:hlink>
        <a:srgbClr val="FF5A1F"/>
      </a:hlink>
      <a:folHlink>
        <a:srgbClr val="8A9099"/>
      </a:folHlink>
    </a:clrScheme>
    <a:fontScheme name="Office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DropZero IR 피치덱</dc:title>
  <dc:subject>PptxGenJS Presentation</dc:subject>
  <dc:creator>팀 GA (이승보, 이성재, 장재홍)</dc:creator>
  <cp:lastModifiedBy>팀 GA (이승보, 이성재, 장재홍)</cp:lastModifiedBy>
  <cp:revision>1</cp:revision>
  <dcterms:created xsi:type="dcterms:W3CDTF">2026-10-30T08:54:54Z</dcterms:created>
  <dcterms:modified xsi:type="dcterms:W3CDTF">2026-10-30T08:54:54Z</dcterms:modified>
</cp:coreProperties>
</file>